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Inter Bold" charset="1" panose="020B0802030000000004"/>
      <p:regular r:id="rId16"/>
    </p:embeddedFont>
    <p:embeddedFont>
      <p:font typeface="Inter" charset="1" panose="020B0502030000000004"/>
      <p:regular r:id="rId17"/>
    </p:embeddedFont>
    <p:embeddedFont>
      <p:font typeface="Inter Light" charset="1" panose="020005030000000200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amma.app/?utm_source=made-with-gamma" TargetMode="External" Type="http://schemas.openxmlformats.org/officeDocument/2006/relationships/hyperlink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amma.app/?utm_source=made-with-gamma" TargetMode="External" Type="http://schemas.openxmlformats.org/officeDocument/2006/relationships/hyperlink"/><Relationship Id="rId3" Target="../media/image1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9" y="9686925"/>
            <a:ext cx="2153256" cy="514350"/>
            <a:chOff x="0" y="0"/>
            <a:chExt cx="2871008" cy="685800"/>
          </a:xfrm>
        </p:grpSpPr>
        <p:sp>
          <p:nvSpPr>
            <p:cNvPr name="Freeform 7" id="7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3176439"/>
            <a:ext cx="9445526" cy="1800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Adaptive Traffic Light Control System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5316439"/>
            <a:ext cx="9445526" cy="53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An AI-based Smart Traffic Management Solution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38" y="6089005"/>
            <a:ext cx="9445526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Presented by:</a:t>
            </a: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Bitu Sahu, Bhumika, Bhumika Rana, Bhumi Chauhan</a:t>
            </a:r>
            <a:r>
              <a:rPr lang="en-US" sz="2187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Course:</a:t>
            </a: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B.Tech in AI &amp; Data Science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789961" y="695920"/>
            <a:ext cx="9566076" cy="1702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5187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The Challenge of Urban Traffic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789961" y="3054251"/>
            <a:ext cx="3994100" cy="508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3125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Current Problems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789961" y="3734097"/>
            <a:ext cx="4458295" cy="1799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Traditional traffic systems use fixed timers that don't respond to actual road conditions. This leads to: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789961" y="5677495"/>
            <a:ext cx="4458295" cy="947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1051" indent="-155525" lvl="1">
              <a:lnSpc>
                <a:spcPts val="3312"/>
              </a:lnSpc>
              <a:buFont typeface="Arial"/>
              <a:buChar char="•"/>
            </a:pPr>
            <a:r>
              <a:rPr lang="en-US" sz="20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Unnecessary waiting at empty intersections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789961" y="6622554"/>
            <a:ext cx="4458295" cy="947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1051" indent="-155525" lvl="1">
              <a:lnSpc>
                <a:spcPts val="3312"/>
              </a:lnSpc>
              <a:buFont typeface="Arial"/>
              <a:buChar char="•"/>
            </a:pPr>
            <a:r>
              <a:rPr lang="en-US" sz="20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Increased congestion during peak hours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789961" y="7567612"/>
            <a:ext cx="4458295" cy="947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1051" indent="-155525" lvl="1">
              <a:lnSpc>
                <a:spcPts val="3312"/>
              </a:lnSpc>
              <a:buFont typeface="Arial"/>
              <a:buChar char="•"/>
            </a:pPr>
            <a:r>
              <a:rPr lang="en-US" sz="20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Delayed emergency response times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789961" y="8512671"/>
            <a:ext cx="4458295" cy="947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1051" indent="-155525" lvl="1">
              <a:lnSpc>
                <a:spcPts val="3312"/>
              </a:lnSpc>
              <a:buFont typeface="Arial"/>
              <a:buChar char="•"/>
            </a:pPr>
            <a:r>
              <a:rPr lang="en-US" sz="20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Wasted fuel and higher emissions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907267" y="3054251"/>
            <a:ext cx="3994100" cy="508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3125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The Smart Solution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907267" y="3734097"/>
            <a:ext cx="4458295" cy="1799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Our Adaptive Traffic Light Control System uses real-time data and AI to dynamically adjust signal timing based on actual traffic density.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907267" y="5677495"/>
            <a:ext cx="4458295" cy="1373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The result: reduced congestion, shorter travel times, and a more sustainable urban environment.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928217"/>
            <a:ext cx="7088237" cy="914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Project Overview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87475" y="3405039"/>
            <a:ext cx="5254973" cy="3703588"/>
            <a:chOff x="0" y="0"/>
            <a:chExt cx="7006630" cy="493811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6350" y="6350"/>
              <a:ext cx="6993890" cy="4925441"/>
            </a:xfrm>
            <a:custGeom>
              <a:avLst/>
              <a:gdLst/>
              <a:ahLst/>
              <a:cxnLst/>
              <a:rect r="r" b="b" t="t" l="l"/>
              <a:pathLst>
                <a:path h="4925441" w="6993890">
                  <a:moveTo>
                    <a:pt x="0" y="158750"/>
                  </a:moveTo>
                  <a:cubicBezTo>
                    <a:pt x="0" y="71120"/>
                    <a:pt x="71120" y="0"/>
                    <a:pt x="158877" y="0"/>
                  </a:cubicBezTo>
                  <a:lnTo>
                    <a:pt x="6835013" y="0"/>
                  </a:lnTo>
                  <a:cubicBezTo>
                    <a:pt x="6922770" y="0"/>
                    <a:pt x="6993890" y="71120"/>
                    <a:pt x="6993890" y="158750"/>
                  </a:cubicBezTo>
                  <a:lnTo>
                    <a:pt x="6993890" y="4766564"/>
                  </a:lnTo>
                  <a:cubicBezTo>
                    <a:pt x="6993890" y="4854321"/>
                    <a:pt x="6922770" y="4925314"/>
                    <a:pt x="6835013" y="4925314"/>
                  </a:cubicBezTo>
                  <a:lnTo>
                    <a:pt x="158877" y="4925314"/>
                  </a:lnTo>
                  <a:cubicBezTo>
                    <a:pt x="71120" y="4925441"/>
                    <a:pt x="0" y="4854321"/>
                    <a:pt x="0" y="4766564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06590" cy="4938014"/>
            </a:xfrm>
            <a:custGeom>
              <a:avLst/>
              <a:gdLst/>
              <a:ahLst/>
              <a:cxnLst/>
              <a:rect r="r" b="b" t="t" l="l"/>
              <a:pathLst>
                <a:path h="4938014" w="7006590">
                  <a:moveTo>
                    <a:pt x="0" y="165100"/>
                  </a:moveTo>
                  <a:cubicBezTo>
                    <a:pt x="0" y="73914"/>
                    <a:pt x="74041" y="0"/>
                    <a:pt x="165227" y="0"/>
                  </a:cubicBezTo>
                  <a:lnTo>
                    <a:pt x="6841363" y="0"/>
                  </a:lnTo>
                  <a:lnTo>
                    <a:pt x="6841363" y="6350"/>
                  </a:lnTo>
                  <a:lnTo>
                    <a:pt x="6841363" y="0"/>
                  </a:lnTo>
                  <a:cubicBezTo>
                    <a:pt x="6932676" y="0"/>
                    <a:pt x="7006590" y="73914"/>
                    <a:pt x="7006590" y="165100"/>
                  </a:cubicBezTo>
                  <a:lnTo>
                    <a:pt x="7000240" y="165100"/>
                  </a:lnTo>
                  <a:lnTo>
                    <a:pt x="7006590" y="165100"/>
                  </a:lnTo>
                  <a:lnTo>
                    <a:pt x="7006590" y="4772914"/>
                  </a:lnTo>
                  <a:lnTo>
                    <a:pt x="7000240" y="4772914"/>
                  </a:lnTo>
                  <a:lnTo>
                    <a:pt x="7006590" y="4772914"/>
                  </a:lnTo>
                  <a:cubicBezTo>
                    <a:pt x="7006590" y="4864100"/>
                    <a:pt x="6932549" y="4938014"/>
                    <a:pt x="6841363" y="4938014"/>
                  </a:cubicBezTo>
                  <a:lnTo>
                    <a:pt x="6841363" y="4931664"/>
                  </a:lnTo>
                  <a:lnTo>
                    <a:pt x="6841363" y="4938014"/>
                  </a:lnTo>
                  <a:lnTo>
                    <a:pt x="165227" y="4938014"/>
                  </a:lnTo>
                  <a:lnTo>
                    <a:pt x="165227" y="4931664"/>
                  </a:lnTo>
                  <a:lnTo>
                    <a:pt x="165227" y="4938014"/>
                  </a:lnTo>
                  <a:cubicBezTo>
                    <a:pt x="73914" y="4938014"/>
                    <a:pt x="0" y="4864100"/>
                    <a:pt x="0" y="4772914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4772914"/>
                  </a:lnTo>
                  <a:lnTo>
                    <a:pt x="6350" y="4772914"/>
                  </a:lnTo>
                  <a:lnTo>
                    <a:pt x="12700" y="4772914"/>
                  </a:lnTo>
                  <a:cubicBezTo>
                    <a:pt x="12700" y="4857115"/>
                    <a:pt x="81026" y="4925314"/>
                    <a:pt x="165227" y="4925314"/>
                  </a:cubicBezTo>
                  <a:lnTo>
                    <a:pt x="6841363" y="4925314"/>
                  </a:lnTo>
                  <a:cubicBezTo>
                    <a:pt x="6925691" y="4925314"/>
                    <a:pt x="6993890" y="4857115"/>
                    <a:pt x="6993890" y="4772914"/>
                  </a:cubicBezTo>
                  <a:lnTo>
                    <a:pt x="6993890" y="165100"/>
                  </a:lnTo>
                  <a:cubicBezTo>
                    <a:pt x="6993890" y="80899"/>
                    <a:pt x="6925564" y="12700"/>
                    <a:pt x="6841363" y="12700"/>
                  </a:cubicBezTo>
                  <a:lnTo>
                    <a:pt x="165227" y="12700"/>
                  </a:lnTo>
                  <a:lnTo>
                    <a:pt x="165227" y="6350"/>
                  </a:lnTo>
                  <a:lnTo>
                    <a:pt x="165227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85280" y="3702844"/>
            <a:ext cx="850552" cy="850552"/>
            <a:chOff x="0" y="0"/>
            <a:chExt cx="1134070" cy="113407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name="Freeform 12" id="12" descr="preencoded.png"/>
          <p:cNvSpPr/>
          <p:nvPr/>
        </p:nvSpPr>
        <p:spPr>
          <a:xfrm flipH="false" flipV="false" rot="0">
            <a:off x="1519238" y="3936652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7" y="0"/>
                </a:lnTo>
                <a:lnTo>
                  <a:pt x="382637" y="382638"/>
                </a:lnTo>
                <a:lnTo>
                  <a:pt x="0" y="3826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85280" y="4817864"/>
            <a:ext cx="3544044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Intelligent Detection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85280" y="5364213"/>
            <a:ext cx="4659362" cy="144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Cameras and sensors capture real-time traffic density at intersections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516440" y="3405039"/>
            <a:ext cx="5254973" cy="3703588"/>
            <a:chOff x="0" y="0"/>
            <a:chExt cx="7006630" cy="493811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6350" y="6350"/>
              <a:ext cx="6993890" cy="4925441"/>
            </a:xfrm>
            <a:custGeom>
              <a:avLst/>
              <a:gdLst/>
              <a:ahLst/>
              <a:cxnLst/>
              <a:rect r="r" b="b" t="t" l="l"/>
              <a:pathLst>
                <a:path h="4925441" w="6993890">
                  <a:moveTo>
                    <a:pt x="0" y="158750"/>
                  </a:moveTo>
                  <a:cubicBezTo>
                    <a:pt x="0" y="71120"/>
                    <a:pt x="71120" y="0"/>
                    <a:pt x="158877" y="0"/>
                  </a:cubicBezTo>
                  <a:lnTo>
                    <a:pt x="6835013" y="0"/>
                  </a:lnTo>
                  <a:cubicBezTo>
                    <a:pt x="6922770" y="0"/>
                    <a:pt x="6993890" y="71120"/>
                    <a:pt x="6993890" y="158750"/>
                  </a:cubicBezTo>
                  <a:lnTo>
                    <a:pt x="6993890" y="4766564"/>
                  </a:lnTo>
                  <a:cubicBezTo>
                    <a:pt x="6993890" y="4854321"/>
                    <a:pt x="6922770" y="4925314"/>
                    <a:pt x="6835013" y="4925314"/>
                  </a:cubicBezTo>
                  <a:lnTo>
                    <a:pt x="158877" y="4925314"/>
                  </a:lnTo>
                  <a:cubicBezTo>
                    <a:pt x="71120" y="4925441"/>
                    <a:pt x="0" y="4854321"/>
                    <a:pt x="0" y="4766564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006590" cy="4938014"/>
            </a:xfrm>
            <a:custGeom>
              <a:avLst/>
              <a:gdLst/>
              <a:ahLst/>
              <a:cxnLst/>
              <a:rect r="r" b="b" t="t" l="l"/>
              <a:pathLst>
                <a:path h="4938014" w="7006590">
                  <a:moveTo>
                    <a:pt x="0" y="165100"/>
                  </a:moveTo>
                  <a:cubicBezTo>
                    <a:pt x="0" y="73914"/>
                    <a:pt x="74041" y="0"/>
                    <a:pt x="165227" y="0"/>
                  </a:cubicBezTo>
                  <a:lnTo>
                    <a:pt x="6841363" y="0"/>
                  </a:lnTo>
                  <a:lnTo>
                    <a:pt x="6841363" y="6350"/>
                  </a:lnTo>
                  <a:lnTo>
                    <a:pt x="6841363" y="0"/>
                  </a:lnTo>
                  <a:cubicBezTo>
                    <a:pt x="6932676" y="0"/>
                    <a:pt x="7006590" y="73914"/>
                    <a:pt x="7006590" y="165100"/>
                  </a:cubicBezTo>
                  <a:lnTo>
                    <a:pt x="7000240" y="165100"/>
                  </a:lnTo>
                  <a:lnTo>
                    <a:pt x="7006590" y="165100"/>
                  </a:lnTo>
                  <a:lnTo>
                    <a:pt x="7006590" y="4772914"/>
                  </a:lnTo>
                  <a:lnTo>
                    <a:pt x="7000240" y="4772914"/>
                  </a:lnTo>
                  <a:lnTo>
                    <a:pt x="7006590" y="4772914"/>
                  </a:lnTo>
                  <a:cubicBezTo>
                    <a:pt x="7006590" y="4864100"/>
                    <a:pt x="6932549" y="4938014"/>
                    <a:pt x="6841363" y="4938014"/>
                  </a:cubicBezTo>
                  <a:lnTo>
                    <a:pt x="6841363" y="4931664"/>
                  </a:lnTo>
                  <a:lnTo>
                    <a:pt x="6841363" y="4938014"/>
                  </a:lnTo>
                  <a:lnTo>
                    <a:pt x="165227" y="4938014"/>
                  </a:lnTo>
                  <a:lnTo>
                    <a:pt x="165227" y="4931664"/>
                  </a:lnTo>
                  <a:lnTo>
                    <a:pt x="165227" y="4938014"/>
                  </a:lnTo>
                  <a:cubicBezTo>
                    <a:pt x="73914" y="4938014"/>
                    <a:pt x="0" y="4864100"/>
                    <a:pt x="0" y="4772914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4772914"/>
                  </a:lnTo>
                  <a:lnTo>
                    <a:pt x="6350" y="4772914"/>
                  </a:lnTo>
                  <a:lnTo>
                    <a:pt x="12700" y="4772914"/>
                  </a:lnTo>
                  <a:cubicBezTo>
                    <a:pt x="12700" y="4857115"/>
                    <a:pt x="81026" y="4925314"/>
                    <a:pt x="165227" y="4925314"/>
                  </a:cubicBezTo>
                  <a:lnTo>
                    <a:pt x="6841363" y="4925314"/>
                  </a:lnTo>
                  <a:cubicBezTo>
                    <a:pt x="6925691" y="4925314"/>
                    <a:pt x="6993890" y="4857115"/>
                    <a:pt x="6993890" y="4772914"/>
                  </a:cubicBezTo>
                  <a:lnTo>
                    <a:pt x="6993890" y="165100"/>
                  </a:lnTo>
                  <a:cubicBezTo>
                    <a:pt x="6993890" y="80899"/>
                    <a:pt x="6925564" y="12700"/>
                    <a:pt x="6841363" y="12700"/>
                  </a:cubicBezTo>
                  <a:lnTo>
                    <a:pt x="165227" y="12700"/>
                  </a:lnTo>
                  <a:lnTo>
                    <a:pt x="165227" y="6350"/>
                  </a:lnTo>
                  <a:lnTo>
                    <a:pt x="165227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814245" y="3702844"/>
            <a:ext cx="850552" cy="850552"/>
            <a:chOff x="0" y="0"/>
            <a:chExt cx="1134070" cy="113407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name="Freeform 20" id="20" descr="preencoded.png"/>
          <p:cNvSpPr/>
          <p:nvPr/>
        </p:nvSpPr>
        <p:spPr>
          <a:xfrm flipH="false" flipV="false" rot="0">
            <a:off x="7048202" y="3936652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8" y="0"/>
                </a:lnTo>
                <a:lnTo>
                  <a:pt x="382638" y="382638"/>
                </a:lnTo>
                <a:lnTo>
                  <a:pt x="0" y="3826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6814245" y="4817864"/>
            <a:ext cx="3544044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Dynamic Control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814245" y="5364213"/>
            <a:ext cx="4659362" cy="144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AI algorithms automatically adjust red and green light durations based on current conditions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2045404" y="3405039"/>
            <a:ext cx="5254973" cy="3703588"/>
            <a:chOff x="0" y="0"/>
            <a:chExt cx="7006630" cy="493811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6350" y="6350"/>
              <a:ext cx="6993890" cy="4925441"/>
            </a:xfrm>
            <a:custGeom>
              <a:avLst/>
              <a:gdLst/>
              <a:ahLst/>
              <a:cxnLst/>
              <a:rect r="r" b="b" t="t" l="l"/>
              <a:pathLst>
                <a:path h="4925441" w="6993890">
                  <a:moveTo>
                    <a:pt x="0" y="158750"/>
                  </a:moveTo>
                  <a:cubicBezTo>
                    <a:pt x="0" y="71120"/>
                    <a:pt x="71120" y="0"/>
                    <a:pt x="158877" y="0"/>
                  </a:cubicBezTo>
                  <a:lnTo>
                    <a:pt x="6835013" y="0"/>
                  </a:lnTo>
                  <a:cubicBezTo>
                    <a:pt x="6922770" y="0"/>
                    <a:pt x="6993890" y="71120"/>
                    <a:pt x="6993890" y="158750"/>
                  </a:cubicBezTo>
                  <a:lnTo>
                    <a:pt x="6993890" y="4766564"/>
                  </a:lnTo>
                  <a:cubicBezTo>
                    <a:pt x="6993890" y="4854321"/>
                    <a:pt x="6922770" y="4925314"/>
                    <a:pt x="6835013" y="4925314"/>
                  </a:cubicBezTo>
                  <a:lnTo>
                    <a:pt x="158877" y="4925314"/>
                  </a:lnTo>
                  <a:cubicBezTo>
                    <a:pt x="71120" y="4925441"/>
                    <a:pt x="0" y="4854321"/>
                    <a:pt x="0" y="4766564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006590" cy="4938014"/>
            </a:xfrm>
            <a:custGeom>
              <a:avLst/>
              <a:gdLst/>
              <a:ahLst/>
              <a:cxnLst/>
              <a:rect r="r" b="b" t="t" l="l"/>
              <a:pathLst>
                <a:path h="4938014" w="7006590">
                  <a:moveTo>
                    <a:pt x="0" y="165100"/>
                  </a:moveTo>
                  <a:cubicBezTo>
                    <a:pt x="0" y="73914"/>
                    <a:pt x="74041" y="0"/>
                    <a:pt x="165227" y="0"/>
                  </a:cubicBezTo>
                  <a:lnTo>
                    <a:pt x="6841363" y="0"/>
                  </a:lnTo>
                  <a:lnTo>
                    <a:pt x="6841363" y="6350"/>
                  </a:lnTo>
                  <a:lnTo>
                    <a:pt x="6841363" y="0"/>
                  </a:lnTo>
                  <a:cubicBezTo>
                    <a:pt x="6932676" y="0"/>
                    <a:pt x="7006590" y="73914"/>
                    <a:pt x="7006590" y="165100"/>
                  </a:cubicBezTo>
                  <a:lnTo>
                    <a:pt x="7000240" y="165100"/>
                  </a:lnTo>
                  <a:lnTo>
                    <a:pt x="7006590" y="165100"/>
                  </a:lnTo>
                  <a:lnTo>
                    <a:pt x="7006590" y="4772914"/>
                  </a:lnTo>
                  <a:lnTo>
                    <a:pt x="7000240" y="4772914"/>
                  </a:lnTo>
                  <a:lnTo>
                    <a:pt x="7006590" y="4772914"/>
                  </a:lnTo>
                  <a:cubicBezTo>
                    <a:pt x="7006590" y="4864100"/>
                    <a:pt x="6932549" y="4938014"/>
                    <a:pt x="6841363" y="4938014"/>
                  </a:cubicBezTo>
                  <a:lnTo>
                    <a:pt x="6841363" y="4931664"/>
                  </a:lnTo>
                  <a:lnTo>
                    <a:pt x="6841363" y="4938014"/>
                  </a:lnTo>
                  <a:lnTo>
                    <a:pt x="165227" y="4938014"/>
                  </a:lnTo>
                  <a:lnTo>
                    <a:pt x="165227" y="4931664"/>
                  </a:lnTo>
                  <a:lnTo>
                    <a:pt x="165227" y="4938014"/>
                  </a:lnTo>
                  <a:cubicBezTo>
                    <a:pt x="73914" y="4938014"/>
                    <a:pt x="0" y="4864100"/>
                    <a:pt x="0" y="4772914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4772914"/>
                  </a:lnTo>
                  <a:lnTo>
                    <a:pt x="6350" y="4772914"/>
                  </a:lnTo>
                  <a:lnTo>
                    <a:pt x="12700" y="4772914"/>
                  </a:lnTo>
                  <a:cubicBezTo>
                    <a:pt x="12700" y="4857115"/>
                    <a:pt x="81026" y="4925314"/>
                    <a:pt x="165227" y="4925314"/>
                  </a:cubicBezTo>
                  <a:lnTo>
                    <a:pt x="6841363" y="4925314"/>
                  </a:lnTo>
                  <a:cubicBezTo>
                    <a:pt x="6925691" y="4925314"/>
                    <a:pt x="6993890" y="4857115"/>
                    <a:pt x="6993890" y="4772914"/>
                  </a:cubicBezTo>
                  <a:lnTo>
                    <a:pt x="6993890" y="165100"/>
                  </a:lnTo>
                  <a:cubicBezTo>
                    <a:pt x="6993890" y="80899"/>
                    <a:pt x="6925564" y="12700"/>
                    <a:pt x="6841363" y="12700"/>
                  </a:cubicBezTo>
                  <a:lnTo>
                    <a:pt x="165227" y="12700"/>
                  </a:lnTo>
                  <a:lnTo>
                    <a:pt x="165227" y="6350"/>
                  </a:lnTo>
                  <a:lnTo>
                    <a:pt x="165227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343210" y="3702844"/>
            <a:ext cx="850553" cy="850552"/>
            <a:chOff x="0" y="0"/>
            <a:chExt cx="1134070" cy="113407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name="Freeform 28" id="28" descr="preencoded.png"/>
          <p:cNvSpPr/>
          <p:nvPr/>
        </p:nvSpPr>
        <p:spPr>
          <a:xfrm flipH="false" flipV="false" rot="0">
            <a:off x="12577167" y="3936652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8" y="0"/>
                </a:lnTo>
                <a:lnTo>
                  <a:pt x="382638" y="382638"/>
                </a:lnTo>
                <a:lnTo>
                  <a:pt x="0" y="3826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2343210" y="4817864"/>
            <a:ext cx="3544044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Eco-Friendly Impact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343210" y="5364213"/>
            <a:ext cx="4659362" cy="144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Reduced idle time means lower fuel consumption and decreased air pollution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92238" y="7337077"/>
            <a:ext cx="16303526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Unlike conventional systems that rely on pre-programmed timers, our solution continuously adapts to changing traffic patterns throughout the day, ensuring optimal flow at every moment.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9" y="9686925"/>
            <a:ext cx="2153256" cy="514350"/>
            <a:chOff x="0" y="0"/>
            <a:chExt cx="2871008" cy="685800"/>
          </a:xfrm>
        </p:grpSpPr>
        <p:sp>
          <p:nvSpPr>
            <p:cNvPr name="Freeform 7" id="7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1696194"/>
            <a:ext cx="7088237" cy="914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Project Aim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2950220"/>
            <a:ext cx="283518" cy="440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 Light"/>
                <a:ea typeface="Inter Light"/>
                <a:cs typeface="Inter Light"/>
                <a:sym typeface="Inter Light"/>
              </a:rPr>
              <a:t>01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92238" y="3479750"/>
            <a:ext cx="4580930" cy="38100"/>
            <a:chOff x="0" y="0"/>
            <a:chExt cx="6107907" cy="50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107938" cy="50800"/>
            </a:xfrm>
            <a:custGeom>
              <a:avLst/>
              <a:gdLst/>
              <a:ahLst/>
              <a:cxnLst/>
              <a:rect r="r" b="b" t="t" l="l"/>
              <a:pathLst>
                <a:path h="50800" w="6107938">
                  <a:moveTo>
                    <a:pt x="0" y="0"/>
                  </a:moveTo>
                  <a:lnTo>
                    <a:pt x="6107938" y="0"/>
                  </a:lnTo>
                  <a:lnTo>
                    <a:pt x="610793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92238" y="3678585"/>
            <a:ext cx="3669060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Optimize Traffic Flow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2238" y="4224933"/>
            <a:ext cx="4580930" cy="144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Automatically control signal timings using real-time traffic data analysis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856685" y="2950220"/>
            <a:ext cx="283518" cy="440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 Light"/>
                <a:ea typeface="Inter Light"/>
                <a:cs typeface="Inter Light"/>
                <a:sym typeface="Inter Light"/>
              </a:rPr>
              <a:t>02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5856685" y="3479750"/>
            <a:ext cx="4581079" cy="38100"/>
            <a:chOff x="0" y="0"/>
            <a:chExt cx="6108105" cy="50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108065" cy="50800"/>
            </a:xfrm>
            <a:custGeom>
              <a:avLst/>
              <a:gdLst/>
              <a:ahLst/>
              <a:cxnLst/>
              <a:rect r="r" b="b" t="t" l="l"/>
              <a:pathLst>
                <a:path h="50800" w="6108065">
                  <a:moveTo>
                    <a:pt x="0" y="0"/>
                  </a:moveTo>
                  <a:lnTo>
                    <a:pt x="6108065" y="0"/>
                  </a:lnTo>
                  <a:lnTo>
                    <a:pt x="6108065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5856685" y="3678585"/>
            <a:ext cx="3579911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Minimize Wait Times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856685" y="4224933"/>
            <a:ext cx="4581079" cy="144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Eliminate unnecessary delays on less congested roads while prioritizing busier routes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92238" y="6081861"/>
            <a:ext cx="283518" cy="440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 Light"/>
                <a:ea typeface="Inter Light"/>
                <a:cs typeface="Inter Light"/>
                <a:sym typeface="Inter Light"/>
              </a:rPr>
              <a:t>03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92238" y="6611391"/>
            <a:ext cx="9445526" cy="38100"/>
            <a:chOff x="0" y="0"/>
            <a:chExt cx="12594035" cy="50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594082" cy="50800"/>
            </a:xfrm>
            <a:custGeom>
              <a:avLst/>
              <a:gdLst/>
              <a:ahLst/>
              <a:cxnLst/>
              <a:rect r="r" b="b" t="t" l="l"/>
              <a:pathLst>
                <a:path h="50800" w="12594082">
                  <a:moveTo>
                    <a:pt x="0" y="0"/>
                  </a:moveTo>
                  <a:lnTo>
                    <a:pt x="12594082" y="0"/>
                  </a:lnTo>
                  <a:lnTo>
                    <a:pt x="12594082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992238" y="6810226"/>
            <a:ext cx="4662190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Enable Smart Management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92238" y="7356574"/>
            <a:ext cx="9445526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Create an intelligent, adaptive system that's both efficient and environmentally sustainable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402705"/>
            <a:ext cx="7088237" cy="914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Problem Statements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73188" y="2865239"/>
            <a:ext cx="8048030" cy="3108871"/>
            <a:chOff x="0" y="0"/>
            <a:chExt cx="10730707" cy="414516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25400" y="25400"/>
              <a:ext cx="10679938" cy="4094353"/>
            </a:xfrm>
            <a:custGeom>
              <a:avLst/>
              <a:gdLst/>
              <a:ahLst/>
              <a:cxnLst/>
              <a:rect r="r" b="b" t="t" l="l"/>
              <a:pathLst>
                <a:path h="4094353" w="10679938">
                  <a:moveTo>
                    <a:pt x="0" y="243840"/>
                  </a:moveTo>
                  <a:cubicBezTo>
                    <a:pt x="0" y="109220"/>
                    <a:pt x="109982" y="0"/>
                    <a:pt x="245745" y="0"/>
                  </a:cubicBezTo>
                  <a:lnTo>
                    <a:pt x="10434193" y="0"/>
                  </a:lnTo>
                  <a:cubicBezTo>
                    <a:pt x="10569956" y="0"/>
                    <a:pt x="10679938" y="109220"/>
                    <a:pt x="10679938" y="243840"/>
                  </a:cubicBezTo>
                  <a:lnTo>
                    <a:pt x="10679938" y="3850513"/>
                  </a:lnTo>
                  <a:cubicBezTo>
                    <a:pt x="10679938" y="3985133"/>
                    <a:pt x="10569956" y="4094353"/>
                    <a:pt x="10434193" y="4094353"/>
                  </a:cubicBezTo>
                  <a:lnTo>
                    <a:pt x="245745" y="4094353"/>
                  </a:lnTo>
                  <a:cubicBezTo>
                    <a:pt x="109982" y="4094353"/>
                    <a:pt x="0" y="3985133"/>
                    <a:pt x="0" y="385051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30738" cy="4145153"/>
            </a:xfrm>
            <a:custGeom>
              <a:avLst/>
              <a:gdLst/>
              <a:ahLst/>
              <a:cxnLst/>
              <a:rect r="r" b="b" t="t" l="l"/>
              <a:pathLst>
                <a:path h="4145153" w="10730738">
                  <a:moveTo>
                    <a:pt x="0" y="269240"/>
                  </a:moveTo>
                  <a:cubicBezTo>
                    <a:pt x="0" y="120396"/>
                    <a:pt x="121539" y="0"/>
                    <a:pt x="271145" y="0"/>
                  </a:cubicBezTo>
                  <a:lnTo>
                    <a:pt x="10459593" y="0"/>
                  </a:lnTo>
                  <a:lnTo>
                    <a:pt x="10459593" y="25400"/>
                  </a:lnTo>
                  <a:lnTo>
                    <a:pt x="10459593" y="0"/>
                  </a:lnTo>
                  <a:cubicBezTo>
                    <a:pt x="10609200" y="0"/>
                    <a:pt x="10730738" y="120396"/>
                    <a:pt x="10730738" y="269240"/>
                  </a:cubicBezTo>
                  <a:lnTo>
                    <a:pt x="10705338" y="269240"/>
                  </a:lnTo>
                  <a:lnTo>
                    <a:pt x="10730738" y="269240"/>
                  </a:lnTo>
                  <a:lnTo>
                    <a:pt x="10730738" y="3875913"/>
                  </a:lnTo>
                  <a:lnTo>
                    <a:pt x="10705338" y="3875913"/>
                  </a:lnTo>
                  <a:lnTo>
                    <a:pt x="10730738" y="3875913"/>
                  </a:lnTo>
                  <a:cubicBezTo>
                    <a:pt x="10730738" y="4024757"/>
                    <a:pt x="10609200" y="4145153"/>
                    <a:pt x="10459593" y="4145153"/>
                  </a:cubicBezTo>
                  <a:lnTo>
                    <a:pt x="10459593" y="4119753"/>
                  </a:lnTo>
                  <a:lnTo>
                    <a:pt x="10459593" y="4145153"/>
                  </a:lnTo>
                  <a:lnTo>
                    <a:pt x="271145" y="4145153"/>
                  </a:lnTo>
                  <a:lnTo>
                    <a:pt x="271145" y="4119753"/>
                  </a:lnTo>
                  <a:lnTo>
                    <a:pt x="271145" y="4145153"/>
                  </a:lnTo>
                  <a:cubicBezTo>
                    <a:pt x="121539" y="4145153"/>
                    <a:pt x="0" y="4024757"/>
                    <a:pt x="0" y="3875913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3875913"/>
                  </a:lnTo>
                  <a:lnTo>
                    <a:pt x="25400" y="3875913"/>
                  </a:lnTo>
                  <a:lnTo>
                    <a:pt x="50800" y="3875913"/>
                  </a:lnTo>
                  <a:cubicBezTo>
                    <a:pt x="50800" y="3996436"/>
                    <a:pt x="149225" y="4094353"/>
                    <a:pt x="271145" y="4094353"/>
                  </a:cubicBezTo>
                  <a:lnTo>
                    <a:pt x="10459593" y="4094353"/>
                  </a:lnTo>
                  <a:cubicBezTo>
                    <a:pt x="10581513" y="4094353"/>
                    <a:pt x="10679938" y="3996309"/>
                    <a:pt x="10679938" y="3875913"/>
                  </a:cubicBezTo>
                  <a:lnTo>
                    <a:pt x="10679938" y="269240"/>
                  </a:lnTo>
                  <a:cubicBezTo>
                    <a:pt x="10679938" y="148717"/>
                    <a:pt x="10581513" y="50800"/>
                    <a:pt x="10459593" y="50800"/>
                  </a:cubicBezTo>
                  <a:lnTo>
                    <a:pt x="271145" y="50800"/>
                  </a:lnTo>
                  <a:lnTo>
                    <a:pt x="271145" y="25400"/>
                  </a:lnTo>
                  <a:lnTo>
                    <a:pt x="271145" y="50800"/>
                  </a:lnTo>
                  <a:cubicBezTo>
                    <a:pt x="149225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54138" y="2884289"/>
            <a:ext cx="152400" cy="3070771"/>
            <a:chOff x="0" y="0"/>
            <a:chExt cx="203200" cy="409436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3200" cy="4094353"/>
            </a:xfrm>
            <a:custGeom>
              <a:avLst/>
              <a:gdLst/>
              <a:ahLst/>
              <a:cxnLst/>
              <a:rect r="r" b="b" t="t" l="l"/>
              <a:pathLst>
                <a:path h="4094353" w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3992753"/>
                  </a:lnTo>
                  <a:cubicBezTo>
                    <a:pt x="203200" y="4048887"/>
                    <a:pt x="157734" y="4094353"/>
                    <a:pt x="101600" y="4094353"/>
                  </a:cubicBezTo>
                  <a:cubicBezTo>
                    <a:pt x="45466" y="4094353"/>
                    <a:pt x="0" y="4048887"/>
                    <a:pt x="0" y="3992753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428155" y="3186856"/>
            <a:ext cx="4076402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Inefficient Fixed Timers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28155" y="3733205"/>
            <a:ext cx="7252395" cy="1900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Traditional traffic lights operate on predetermined schedules, causing vehicles to wait unnecessarily at empty intersections regardless of actual traffic conditions.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266635" y="2865239"/>
            <a:ext cx="8048179" cy="3108871"/>
            <a:chOff x="0" y="0"/>
            <a:chExt cx="10730905" cy="414516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25400" y="25400"/>
              <a:ext cx="10680192" cy="4094353"/>
            </a:xfrm>
            <a:custGeom>
              <a:avLst/>
              <a:gdLst/>
              <a:ahLst/>
              <a:cxnLst/>
              <a:rect r="r" b="b" t="t" l="l"/>
              <a:pathLst>
                <a:path h="4094353" w="10680192">
                  <a:moveTo>
                    <a:pt x="0" y="243840"/>
                  </a:moveTo>
                  <a:cubicBezTo>
                    <a:pt x="0" y="109220"/>
                    <a:pt x="109982" y="0"/>
                    <a:pt x="245745" y="0"/>
                  </a:cubicBezTo>
                  <a:lnTo>
                    <a:pt x="10434447" y="0"/>
                  </a:lnTo>
                  <a:cubicBezTo>
                    <a:pt x="10570210" y="0"/>
                    <a:pt x="10680192" y="109220"/>
                    <a:pt x="10680192" y="243840"/>
                  </a:cubicBezTo>
                  <a:lnTo>
                    <a:pt x="10680192" y="3850513"/>
                  </a:lnTo>
                  <a:cubicBezTo>
                    <a:pt x="10680192" y="3985133"/>
                    <a:pt x="10570210" y="4094353"/>
                    <a:pt x="10434447" y="4094353"/>
                  </a:cubicBezTo>
                  <a:lnTo>
                    <a:pt x="245745" y="4094353"/>
                  </a:lnTo>
                  <a:cubicBezTo>
                    <a:pt x="109982" y="4094353"/>
                    <a:pt x="0" y="3985133"/>
                    <a:pt x="0" y="385051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730992" cy="4145153"/>
            </a:xfrm>
            <a:custGeom>
              <a:avLst/>
              <a:gdLst/>
              <a:ahLst/>
              <a:cxnLst/>
              <a:rect r="r" b="b" t="t" l="l"/>
              <a:pathLst>
                <a:path h="4145153" w="10730992">
                  <a:moveTo>
                    <a:pt x="0" y="269240"/>
                  </a:moveTo>
                  <a:cubicBezTo>
                    <a:pt x="0" y="120396"/>
                    <a:pt x="121539" y="0"/>
                    <a:pt x="271145" y="0"/>
                  </a:cubicBezTo>
                  <a:lnTo>
                    <a:pt x="10459847" y="0"/>
                  </a:lnTo>
                  <a:lnTo>
                    <a:pt x="10459847" y="25400"/>
                  </a:lnTo>
                  <a:lnTo>
                    <a:pt x="10459847" y="0"/>
                  </a:lnTo>
                  <a:cubicBezTo>
                    <a:pt x="10609453" y="0"/>
                    <a:pt x="10730992" y="120396"/>
                    <a:pt x="10730992" y="269240"/>
                  </a:cubicBezTo>
                  <a:lnTo>
                    <a:pt x="10705592" y="269240"/>
                  </a:lnTo>
                  <a:lnTo>
                    <a:pt x="10730992" y="269240"/>
                  </a:lnTo>
                  <a:lnTo>
                    <a:pt x="10730992" y="3875913"/>
                  </a:lnTo>
                  <a:lnTo>
                    <a:pt x="10705592" y="3875913"/>
                  </a:lnTo>
                  <a:lnTo>
                    <a:pt x="10730992" y="3875913"/>
                  </a:lnTo>
                  <a:cubicBezTo>
                    <a:pt x="10730992" y="4024757"/>
                    <a:pt x="10609453" y="4145153"/>
                    <a:pt x="10459847" y="4145153"/>
                  </a:cubicBezTo>
                  <a:lnTo>
                    <a:pt x="10459847" y="4119753"/>
                  </a:lnTo>
                  <a:lnTo>
                    <a:pt x="10459847" y="4145153"/>
                  </a:lnTo>
                  <a:lnTo>
                    <a:pt x="271145" y="4145153"/>
                  </a:lnTo>
                  <a:lnTo>
                    <a:pt x="271145" y="4119753"/>
                  </a:lnTo>
                  <a:lnTo>
                    <a:pt x="271145" y="4145153"/>
                  </a:lnTo>
                  <a:cubicBezTo>
                    <a:pt x="121539" y="4145153"/>
                    <a:pt x="0" y="4024757"/>
                    <a:pt x="0" y="3875913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3875913"/>
                  </a:lnTo>
                  <a:lnTo>
                    <a:pt x="25400" y="3875913"/>
                  </a:lnTo>
                  <a:lnTo>
                    <a:pt x="50800" y="3875913"/>
                  </a:lnTo>
                  <a:cubicBezTo>
                    <a:pt x="50800" y="3996436"/>
                    <a:pt x="149225" y="4094353"/>
                    <a:pt x="271145" y="4094353"/>
                  </a:cubicBezTo>
                  <a:lnTo>
                    <a:pt x="10459847" y="4094353"/>
                  </a:lnTo>
                  <a:cubicBezTo>
                    <a:pt x="10581767" y="4094353"/>
                    <a:pt x="10680192" y="3996309"/>
                    <a:pt x="10680192" y="3875913"/>
                  </a:cubicBezTo>
                  <a:lnTo>
                    <a:pt x="10680192" y="269240"/>
                  </a:lnTo>
                  <a:cubicBezTo>
                    <a:pt x="10680192" y="148717"/>
                    <a:pt x="10581767" y="50800"/>
                    <a:pt x="10459847" y="50800"/>
                  </a:cubicBezTo>
                  <a:lnTo>
                    <a:pt x="271145" y="50800"/>
                  </a:lnTo>
                  <a:lnTo>
                    <a:pt x="271145" y="25400"/>
                  </a:lnTo>
                  <a:lnTo>
                    <a:pt x="271145" y="50800"/>
                  </a:lnTo>
                  <a:cubicBezTo>
                    <a:pt x="149225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247584" y="2884289"/>
            <a:ext cx="152400" cy="3070771"/>
            <a:chOff x="0" y="0"/>
            <a:chExt cx="203200" cy="409436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3200" cy="4094353"/>
            </a:xfrm>
            <a:custGeom>
              <a:avLst/>
              <a:gdLst/>
              <a:ahLst/>
              <a:cxnLst/>
              <a:rect r="r" b="b" t="t" l="l"/>
              <a:pathLst>
                <a:path h="4094353" w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3992753"/>
                  </a:lnTo>
                  <a:cubicBezTo>
                    <a:pt x="203200" y="4048887"/>
                    <a:pt x="157734" y="4094353"/>
                    <a:pt x="101600" y="4094353"/>
                  </a:cubicBezTo>
                  <a:cubicBezTo>
                    <a:pt x="45466" y="4094353"/>
                    <a:pt x="0" y="4048887"/>
                    <a:pt x="0" y="3992753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9721602" y="3186856"/>
            <a:ext cx="4228059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Rising Congestion Crisis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721602" y="3733205"/>
            <a:ext cx="7252544" cy="144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Growing urban populations lead to severe traffic jams, resulting in extended travel times, excessive fuel consumption, and increased environmental pollution.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73188" y="6219527"/>
            <a:ext cx="8048030" cy="2655243"/>
            <a:chOff x="0" y="0"/>
            <a:chExt cx="10730707" cy="354032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25400" y="25400"/>
              <a:ext cx="10679938" cy="3489452"/>
            </a:xfrm>
            <a:custGeom>
              <a:avLst/>
              <a:gdLst/>
              <a:ahLst/>
              <a:cxnLst/>
              <a:rect r="r" b="b" t="t" l="l"/>
              <a:pathLst>
                <a:path h="3489452" w="10679938">
                  <a:moveTo>
                    <a:pt x="0" y="243840"/>
                  </a:moveTo>
                  <a:cubicBezTo>
                    <a:pt x="0" y="109220"/>
                    <a:pt x="110236" y="0"/>
                    <a:pt x="246253" y="0"/>
                  </a:cubicBezTo>
                  <a:lnTo>
                    <a:pt x="10433685" y="0"/>
                  </a:lnTo>
                  <a:cubicBezTo>
                    <a:pt x="10569702" y="0"/>
                    <a:pt x="10679938" y="109220"/>
                    <a:pt x="10679938" y="243840"/>
                  </a:cubicBezTo>
                  <a:lnTo>
                    <a:pt x="10679938" y="3245612"/>
                  </a:lnTo>
                  <a:cubicBezTo>
                    <a:pt x="10679938" y="3380232"/>
                    <a:pt x="10569702" y="3489452"/>
                    <a:pt x="10433685" y="3489452"/>
                  </a:cubicBezTo>
                  <a:lnTo>
                    <a:pt x="246253" y="3489452"/>
                  </a:lnTo>
                  <a:cubicBezTo>
                    <a:pt x="110236" y="3489452"/>
                    <a:pt x="0" y="3380232"/>
                    <a:pt x="0" y="324561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730738" cy="3540379"/>
            </a:xfrm>
            <a:custGeom>
              <a:avLst/>
              <a:gdLst/>
              <a:ahLst/>
              <a:cxnLst/>
              <a:rect r="r" b="b" t="t" l="l"/>
              <a:pathLst>
                <a:path h="3540379" w="10730738">
                  <a:moveTo>
                    <a:pt x="0" y="269240"/>
                  </a:moveTo>
                  <a:cubicBezTo>
                    <a:pt x="0" y="120269"/>
                    <a:pt x="121793" y="0"/>
                    <a:pt x="271653" y="0"/>
                  </a:cubicBezTo>
                  <a:lnTo>
                    <a:pt x="10459085" y="0"/>
                  </a:lnTo>
                  <a:lnTo>
                    <a:pt x="10459085" y="25400"/>
                  </a:lnTo>
                  <a:lnTo>
                    <a:pt x="10459085" y="0"/>
                  </a:lnTo>
                  <a:cubicBezTo>
                    <a:pt x="10608818" y="0"/>
                    <a:pt x="10730738" y="120269"/>
                    <a:pt x="10730738" y="269240"/>
                  </a:cubicBezTo>
                  <a:lnTo>
                    <a:pt x="10705338" y="269240"/>
                  </a:lnTo>
                  <a:lnTo>
                    <a:pt x="10730738" y="269240"/>
                  </a:lnTo>
                  <a:lnTo>
                    <a:pt x="10730738" y="3271012"/>
                  </a:lnTo>
                  <a:lnTo>
                    <a:pt x="10705338" y="3271012"/>
                  </a:lnTo>
                  <a:lnTo>
                    <a:pt x="10730738" y="3271012"/>
                  </a:lnTo>
                  <a:cubicBezTo>
                    <a:pt x="10730738" y="3419983"/>
                    <a:pt x="10608945" y="3540252"/>
                    <a:pt x="10459085" y="3540252"/>
                  </a:cubicBezTo>
                  <a:lnTo>
                    <a:pt x="10459085" y="3514852"/>
                  </a:lnTo>
                  <a:lnTo>
                    <a:pt x="10459085" y="3540252"/>
                  </a:lnTo>
                  <a:lnTo>
                    <a:pt x="271653" y="3540252"/>
                  </a:lnTo>
                  <a:lnTo>
                    <a:pt x="271653" y="3514852"/>
                  </a:lnTo>
                  <a:lnTo>
                    <a:pt x="271653" y="3540252"/>
                  </a:lnTo>
                  <a:cubicBezTo>
                    <a:pt x="121793" y="3540379"/>
                    <a:pt x="0" y="3419983"/>
                    <a:pt x="0" y="3271012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3271012"/>
                  </a:lnTo>
                  <a:lnTo>
                    <a:pt x="25400" y="3271012"/>
                  </a:lnTo>
                  <a:lnTo>
                    <a:pt x="50800" y="3271012"/>
                  </a:lnTo>
                  <a:cubicBezTo>
                    <a:pt x="50800" y="3391408"/>
                    <a:pt x="149479" y="3489452"/>
                    <a:pt x="271653" y="3489452"/>
                  </a:cubicBezTo>
                  <a:lnTo>
                    <a:pt x="10459085" y="3489452"/>
                  </a:lnTo>
                  <a:cubicBezTo>
                    <a:pt x="10581259" y="3489452"/>
                    <a:pt x="10679938" y="3391408"/>
                    <a:pt x="10679938" y="3271012"/>
                  </a:cubicBezTo>
                  <a:lnTo>
                    <a:pt x="10679938" y="269240"/>
                  </a:lnTo>
                  <a:cubicBezTo>
                    <a:pt x="10679938" y="148844"/>
                    <a:pt x="10581259" y="50800"/>
                    <a:pt x="10459085" y="50800"/>
                  </a:cubicBezTo>
                  <a:lnTo>
                    <a:pt x="271653" y="50800"/>
                  </a:lnTo>
                  <a:lnTo>
                    <a:pt x="271653" y="25400"/>
                  </a:lnTo>
                  <a:lnTo>
                    <a:pt x="271653" y="50800"/>
                  </a:lnTo>
                  <a:cubicBezTo>
                    <a:pt x="149479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54138" y="6238577"/>
            <a:ext cx="152400" cy="2617143"/>
            <a:chOff x="0" y="0"/>
            <a:chExt cx="203200" cy="348952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03200" cy="3489579"/>
            </a:xfrm>
            <a:custGeom>
              <a:avLst/>
              <a:gdLst/>
              <a:ahLst/>
              <a:cxnLst/>
              <a:rect r="r" b="b" t="t" l="l"/>
              <a:pathLst>
                <a:path h="3489579" w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3387979"/>
                  </a:lnTo>
                  <a:cubicBezTo>
                    <a:pt x="203200" y="3444113"/>
                    <a:pt x="157734" y="3489579"/>
                    <a:pt x="101600" y="3489579"/>
                  </a:cubicBezTo>
                  <a:cubicBezTo>
                    <a:pt x="45466" y="3489579"/>
                    <a:pt x="0" y="3444113"/>
                    <a:pt x="0" y="3387979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428155" y="6541145"/>
            <a:ext cx="5005536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Emergency Response Delays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28155" y="7087492"/>
            <a:ext cx="7252395" cy="144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Rigid signal patterns prevent ambulances, fire trucks, and police vehicles from quickly reaching their destinations, potentially costing lives.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266635" y="6219527"/>
            <a:ext cx="8048179" cy="2655243"/>
            <a:chOff x="0" y="0"/>
            <a:chExt cx="10730905" cy="354032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25400" y="25400"/>
              <a:ext cx="10680192" cy="3489452"/>
            </a:xfrm>
            <a:custGeom>
              <a:avLst/>
              <a:gdLst/>
              <a:ahLst/>
              <a:cxnLst/>
              <a:rect r="r" b="b" t="t" l="l"/>
              <a:pathLst>
                <a:path h="3489452" w="10680192">
                  <a:moveTo>
                    <a:pt x="0" y="243840"/>
                  </a:moveTo>
                  <a:cubicBezTo>
                    <a:pt x="0" y="109220"/>
                    <a:pt x="110236" y="0"/>
                    <a:pt x="246253" y="0"/>
                  </a:cubicBezTo>
                  <a:lnTo>
                    <a:pt x="10433939" y="0"/>
                  </a:lnTo>
                  <a:cubicBezTo>
                    <a:pt x="10569956" y="0"/>
                    <a:pt x="10680192" y="109220"/>
                    <a:pt x="10680192" y="243840"/>
                  </a:cubicBezTo>
                  <a:lnTo>
                    <a:pt x="10680192" y="3245612"/>
                  </a:lnTo>
                  <a:cubicBezTo>
                    <a:pt x="10680192" y="3380232"/>
                    <a:pt x="10569956" y="3489452"/>
                    <a:pt x="10433939" y="3489452"/>
                  </a:cubicBezTo>
                  <a:lnTo>
                    <a:pt x="246253" y="3489452"/>
                  </a:lnTo>
                  <a:cubicBezTo>
                    <a:pt x="110236" y="3489452"/>
                    <a:pt x="0" y="3380232"/>
                    <a:pt x="0" y="324561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730992" cy="3540379"/>
            </a:xfrm>
            <a:custGeom>
              <a:avLst/>
              <a:gdLst/>
              <a:ahLst/>
              <a:cxnLst/>
              <a:rect r="r" b="b" t="t" l="l"/>
              <a:pathLst>
                <a:path h="3540379" w="10730992">
                  <a:moveTo>
                    <a:pt x="0" y="269240"/>
                  </a:moveTo>
                  <a:cubicBezTo>
                    <a:pt x="0" y="120269"/>
                    <a:pt x="121793" y="0"/>
                    <a:pt x="271653" y="0"/>
                  </a:cubicBezTo>
                  <a:lnTo>
                    <a:pt x="10459339" y="0"/>
                  </a:lnTo>
                  <a:lnTo>
                    <a:pt x="10459339" y="25400"/>
                  </a:lnTo>
                  <a:lnTo>
                    <a:pt x="10459339" y="0"/>
                  </a:lnTo>
                  <a:cubicBezTo>
                    <a:pt x="10609072" y="0"/>
                    <a:pt x="10730992" y="120269"/>
                    <a:pt x="10730992" y="269240"/>
                  </a:cubicBezTo>
                  <a:lnTo>
                    <a:pt x="10705592" y="269240"/>
                  </a:lnTo>
                  <a:lnTo>
                    <a:pt x="10730992" y="269240"/>
                  </a:lnTo>
                  <a:lnTo>
                    <a:pt x="10730992" y="3271012"/>
                  </a:lnTo>
                  <a:lnTo>
                    <a:pt x="10705592" y="3271012"/>
                  </a:lnTo>
                  <a:lnTo>
                    <a:pt x="10730992" y="3271012"/>
                  </a:lnTo>
                  <a:cubicBezTo>
                    <a:pt x="10730992" y="3419983"/>
                    <a:pt x="10609199" y="3540252"/>
                    <a:pt x="10459339" y="3540252"/>
                  </a:cubicBezTo>
                  <a:lnTo>
                    <a:pt x="10459339" y="3514852"/>
                  </a:lnTo>
                  <a:lnTo>
                    <a:pt x="10459339" y="3540252"/>
                  </a:lnTo>
                  <a:lnTo>
                    <a:pt x="271653" y="3540252"/>
                  </a:lnTo>
                  <a:lnTo>
                    <a:pt x="271653" y="3514852"/>
                  </a:lnTo>
                  <a:lnTo>
                    <a:pt x="271653" y="3540252"/>
                  </a:lnTo>
                  <a:cubicBezTo>
                    <a:pt x="121793" y="3540379"/>
                    <a:pt x="0" y="3419983"/>
                    <a:pt x="0" y="3271012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3271012"/>
                  </a:lnTo>
                  <a:lnTo>
                    <a:pt x="25400" y="3271012"/>
                  </a:lnTo>
                  <a:lnTo>
                    <a:pt x="50800" y="3271012"/>
                  </a:lnTo>
                  <a:cubicBezTo>
                    <a:pt x="50800" y="3391408"/>
                    <a:pt x="149479" y="3489452"/>
                    <a:pt x="271653" y="3489452"/>
                  </a:cubicBezTo>
                  <a:lnTo>
                    <a:pt x="10459339" y="3489452"/>
                  </a:lnTo>
                  <a:cubicBezTo>
                    <a:pt x="10581513" y="3489452"/>
                    <a:pt x="10680192" y="3391408"/>
                    <a:pt x="10680192" y="3271012"/>
                  </a:cubicBezTo>
                  <a:lnTo>
                    <a:pt x="10680192" y="269240"/>
                  </a:lnTo>
                  <a:cubicBezTo>
                    <a:pt x="10680192" y="148844"/>
                    <a:pt x="10581513" y="50800"/>
                    <a:pt x="10459339" y="50800"/>
                  </a:cubicBezTo>
                  <a:lnTo>
                    <a:pt x="271653" y="50800"/>
                  </a:lnTo>
                  <a:lnTo>
                    <a:pt x="271653" y="25400"/>
                  </a:lnTo>
                  <a:lnTo>
                    <a:pt x="271653" y="50800"/>
                  </a:lnTo>
                  <a:cubicBezTo>
                    <a:pt x="149479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247584" y="6238577"/>
            <a:ext cx="152400" cy="2617143"/>
            <a:chOff x="0" y="0"/>
            <a:chExt cx="203200" cy="348952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03200" cy="3489579"/>
            </a:xfrm>
            <a:custGeom>
              <a:avLst/>
              <a:gdLst/>
              <a:ahLst/>
              <a:cxnLst/>
              <a:rect r="r" b="b" t="t" l="l"/>
              <a:pathLst>
                <a:path h="3489579" w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3387979"/>
                  </a:lnTo>
                  <a:cubicBezTo>
                    <a:pt x="203200" y="3444113"/>
                    <a:pt x="157734" y="3489579"/>
                    <a:pt x="101600" y="3489579"/>
                  </a:cubicBezTo>
                  <a:cubicBezTo>
                    <a:pt x="45466" y="3489579"/>
                    <a:pt x="0" y="3444113"/>
                    <a:pt x="0" y="3387979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9721602" y="6541145"/>
            <a:ext cx="4483447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Lack of Adaptive Systems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721602" y="7087492"/>
            <a:ext cx="7252544" cy="144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Most cities worldwide still operate without intelligent, real-time traffic management infrastructure despite available technology.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721204" y="1021407"/>
            <a:ext cx="6165651" cy="799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4812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Research Insights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721204" y="2408485"/>
            <a:ext cx="3699421" cy="490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Key Findings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721204" y="3069878"/>
            <a:ext cx="5581501" cy="865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193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Our research reveals significant opportunities for improvement in urban traffic management: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721204" y="4080868"/>
            <a:ext cx="5581501" cy="1259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2199" indent="-146100" lvl="1">
              <a:lnSpc>
                <a:spcPts val="3062"/>
              </a:lnSpc>
              <a:buFont typeface="Arial"/>
              <a:buChar char="•"/>
            </a:pPr>
            <a:r>
              <a:rPr lang="en-US" b="true" sz="1937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Traditional systems</a:t>
            </a:r>
            <a:r>
              <a:rPr lang="en-US" sz="193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rely on manual control or static timers, proven inefficient for modern traffic volumes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721204" y="5350817"/>
            <a:ext cx="5581501" cy="1259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2199" indent="-146100" lvl="1">
              <a:lnSpc>
                <a:spcPts val="3062"/>
              </a:lnSpc>
              <a:buFont typeface="Arial"/>
              <a:buChar char="•"/>
            </a:pPr>
            <a:r>
              <a:rPr lang="en-US" b="true" sz="1937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AI-powered adaptive systems</a:t>
            </a:r>
            <a:r>
              <a:rPr lang="en-US" sz="193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can reduce congestion by up to 30% in real-world implementations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721204" y="6620767"/>
            <a:ext cx="5581501" cy="1259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2199" indent="-146100" lvl="1">
              <a:lnSpc>
                <a:spcPts val="3062"/>
              </a:lnSpc>
              <a:buFont typeface="Arial"/>
              <a:buChar char="•"/>
            </a:pPr>
            <a:r>
              <a:rPr lang="en-US" b="true" sz="1937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Emerging technologies</a:t>
            </a:r>
            <a:r>
              <a:rPr lang="en-US" sz="193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like IoT, computer vision, and machine learning are transforming traffic systems globally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721204" y="7890719"/>
            <a:ext cx="5581501" cy="1259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2199" indent="-146100" lvl="1">
              <a:lnSpc>
                <a:spcPts val="3062"/>
              </a:lnSpc>
              <a:buFont typeface="Arial"/>
              <a:buChar char="•"/>
            </a:pPr>
            <a:r>
              <a:rPr lang="en-US" b="true" sz="1937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Advanced models</a:t>
            </a:r>
            <a:r>
              <a:rPr lang="en-US" sz="193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including fuzzy logic and reinforcement learning show promise for dynamic signal optimization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913792" y="2705397"/>
            <a:ext cx="3520380" cy="699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74"/>
              </a:lnSpc>
            </a:pPr>
            <a:r>
              <a:rPr lang="en-US" sz="6374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30%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005172" y="3684389"/>
            <a:ext cx="3337471" cy="413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375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Congestion Reduction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913792" y="4268540"/>
            <a:ext cx="3520380" cy="865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193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Potential decrease with adaptive AI systems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23032" y="699046"/>
            <a:ext cx="6593830" cy="852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37"/>
              </a:lnSpc>
            </a:pPr>
            <a:r>
              <a:rPr lang="en-US" sz="5187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Project Objectives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18270" y="2074515"/>
            <a:ext cx="1064419" cy="1592015"/>
            <a:chOff x="0" y="0"/>
            <a:chExt cx="1419225" cy="212268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6350" y="6350"/>
              <a:ext cx="1406525" cy="2109978"/>
            </a:xfrm>
            <a:custGeom>
              <a:avLst/>
              <a:gdLst/>
              <a:ahLst/>
              <a:cxnLst/>
              <a:rect r="r" b="b" t="t" l="l"/>
              <a:pathLst>
                <a:path h="2109978" w="1406525">
                  <a:moveTo>
                    <a:pt x="0" y="705358"/>
                  </a:moveTo>
                  <a:cubicBezTo>
                    <a:pt x="0" y="315849"/>
                    <a:pt x="314833" y="0"/>
                    <a:pt x="703199" y="0"/>
                  </a:cubicBezTo>
                  <a:cubicBezTo>
                    <a:pt x="1091565" y="0"/>
                    <a:pt x="1406525" y="315849"/>
                    <a:pt x="1406525" y="705358"/>
                  </a:cubicBezTo>
                  <a:lnTo>
                    <a:pt x="1406525" y="1404620"/>
                  </a:lnTo>
                  <a:cubicBezTo>
                    <a:pt x="1406525" y="1794129"/>
                    <a:pt x="1091692" y="2109978"/>
                    <a:pt x="703199" y="2109978"/>
                  </a:cubicBezTo>
                  <a:cubicBezTo>
                    <a:pt x="314706" y="2109978"/>
                    <a:pt x="0" y="1794129"/>
                    <a:pt x="0" y="1404620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19352" cy="2122678"/>
            </a:xfrm>
            <a:custGeom>
              <a:avLst/>
              <a:gdLst/>
              <a:ahLst/>
              <a:cxnLst/>
              <a:rect r="r" b="b" t="t" l="l"/>
              <a:pathLst>
                <a:path h="2122678" w="1419352">
                  <a:moveTo>
                    <a:pt x="0" y="711708"/>
                  </a:moveTo>
                  <a:cubicBezTo>
                    <a:pt x="0" y="318643"/>
                    <a:pt x="317627" y="0"/>
                    <a:pt x="709549" y="0"/>
                  </a:cubicBezTo>
                  <a:cubicBezTo>
                    <a:pt x="710819" y="0"/>
                    <a:pt x="711962" y="381"/>
                    <a:pt x="712978" y="1016"/>
                  </a:cubicBezTo>
                  <a:lnTo>
                    <a:pt x="709676" y="6350"/>
                  </a:lnTo>
                  <a:lnTo>
                    <a:pt x="709676" y="0"/>
                  </a:lnTo>
                  <a:lnTo>
                    <a:pt x="709676" y="6350"/>
                  </a:lnTo>
                  <a:lnTo>
                    <a:pt x="709676" y="0"/>
                  </a:lnTo>
                  <a:cubicBezTo>
                    <a:pt x="1101598" y="0"/>
                    <a:pt x="1419352" y="318643"/>
                    <a:pt x="1419352" y="711708"/>
                  </a:cubicBezTo>
                  <a:lnTo>
                    <a:pt x="1419352" y="1410970"/>
                  </a:lnTo>
                  <a:lnTo>
                    <a:pt x="1413002" y="1410970"/>
                  </a:lnTo>
                  <a:lnTo>
                    <a:pt x="1419352" y="1410970"/>
                  </a:lnTo>
                  <a:cubicBezTo>
                    <a:pt x="1419352" y="1804035"/>
                    <a:pt x="1101725" y="2122678"/>
                    <a:pt x="709676" y="2122678"/>
                  </a:cubicBezTo>
                  <a:lnTo>
                    <a:pt x="709676" y="2116328"/>
                  </a:lnTo>
                  <a:lnTo>
                    <a:pt x="709676" y="2122678"/>
                  </a:lnTo>
                  <a:cubicBezTo>
                    <a:pt x="317627" y="2122678"/>
                    <a:pt x="0" y="1804035"/>
                    <a:pt x="0" y="1410970"/>
                  </a:cubicBezTo>
                  <a:lnTo>
                    <a:pt x="0" y="711708"/>
                  </a:lnTo>
                  <a:lnTo>
                    <a:pt x="6350" y="711708"/>
                  </a:lnTo>
                  <a:lnTo>
                    <a:pt x="0" y="711708"/>
                  </a:lnTo>
                  <a:moveTo>
                    <a:pt x="12700" y="711708"/>
                  </a:moveTo>
                  <a:lnTo>
                    <a:pt x="12700" y="1410970"/>
                  </a:lnTo>
                  <a:lnTo>
                    <a:pt x="6350" y="1410970"/>
                  </a:lnTo>
                  <a:lnTo>
                    <a:pt x="12700" y="1410970"/>
                  </a:lnTo>
                  <a:cubicBezTo>
                    <a:pt x="12700" y="1797050"/>
                    <a:pt x="324739" y="2109978"/>
                    <a:pt x="709676" y="2109978"/>
                  </a:cubicBezTo>
                  <a:cubicBezTo>
                    <a:pt x="1094613" y="2109978"/>
                    <a:pt x="1406652" y="1797050"/>
                    <a:pt x="1406652" y="1410970"/>
                  </a:cubicBezTo>
                  <a:lnTo>
                    <a:pt x="1406652" y="711708"/>
                  </a:lnTo>
                  <a:lnTo>
                    <a:pt x="1413002" y="711708"/>
                  </a:lnTo>
                  <a:lnTo>
                    <a:pt x="1406652" y="711708"/>
                  </a:lnTo>
                  <a:cubicBezTo>
                    <a:pt x="1406525" y="325628"/>
                    <a:pt x="1094486" y="12700"/>
                    <a:pt x="709676" y="12700"/>
                  </a:cubicBezTo>
                  <a:cubicBezTo>
                    <a:pt x="708406" y="12700"/>
                    <a:pt x="707263" y="12319"/>
                    <a:pt x="706247" y="11684"/>
                  </a:cubicBezTo>
                  <a:lnTo>
                    <a:pt x="709549" y="6350"/>
                  </a:lnTo>
                  <a:lnTo>
                    <a:pt x="709549" y="12700"/>
                  </a:lnTo>
                  <a:cubicBezTo>
                    <a:pt x="324739" y="12700"/>
                    <a:pt x="12700" y="325628"/>
                    <a:pt x="12700" y="711708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52686" y="2680395"/>
            <a:ext cx="395585" cy="437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3062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241649" y="2333476"/>
            <a:ext cx="4126260" cy="421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Vehicle Detection System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241649" y="2817911"/>
            <a:ext cx="15123319" cy="517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Design and implement a system that accurately detects and counts vehicles using camera or sensor data at intersections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18270" y="3920729"/>
            <a:ext cx="1064419" cy="1950988"/>
            <a:chOff x="0" y="0"/>
            <a:chExt cx="1419225" cy="260131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6350" y="6350"/>
              <a:ext cx="1406525" cy="2588514"/>
            </a:xfrm>
            <a:custGeom>
              <a:avLst/>
              <a:gdLst/>
              <a:ahLst/>
              <a:cxnLst/>
              <a:rect r="r" b="b" t="t" l="l"/>
              <a:pathLst>
                <a:path h="2588514" w="1406525">
                  <a:moveTo>
                    <a:pt x="0" y="706120"/>
                  </a:moveTo>
                  <a:cubicBezTo>
                    <a:pt x="0" y="316103"/>
                    <a:pt x="314833" y="0"/>
                    <a:pt x="703199" y="0"/>
                  </a:cubicBezTo>
                  <a:cubicBezTo>
                    <a:pt x="1091565" y="0"/>
                    <a:pt x="1406525" y="316103"/>
                    <a:pt x="1406525" y="706120"/>
                  </a:cubicBezTo>
                  <a:lnTo>
                    <a:pt x="1406525" y="1882394"/>
                  </a:lnTo>
                  <a:cubicBezTo>
                    <a:pt x="1406525" y="2272411"/>
                    <a:pt x="1091692" y="2588514"/>
                    <a:pt x="703199" y="2588514"/>
                  </a:cubicBezTo>
                  <a:cubicBezTo>
                    <a:pt x="314706" y="2588514"/>
                    <a:pt x="0" y="2272411"/>
                    <a:pt x="0" y="1882521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19352" cy="2601341"/>
            </a:xfrm>
            <a:custGeom>
              <a:avLst/>
              <a:gdLst/>
              <a:ahLst/>
              <a:cxnLst/>
              <a:rect r="r" b="b" t="t" l="l"/>
              <a:pathLst>
                <a:path h="2601341" w="1419352">
                  <a:moveTo>
                    <a:pt x="0" y="712470"/>
                  </a:moveTo>
                  <a:cubicBezTo>
                    <a:pt x="0" y="319024"/>
                    <a:pt x="317627" y="0"/>
                    <a:pt x="709549" y="0"/>
                  </a:cubicBezTo>
                  <a:cubicBezTo>
                    <a:pt x="710819" y="0"/>
                    <a:pt x="711962" y="381"/>
                    <a:pt x="712978" y="1016"/>
                  </a:cubicBezTo>
                  <a:lnTo>
                    <a:pt x="709676" y="6350"/>
                  </a:lnTo>
                  <a:lnTo>
                    <a:pt x="709676" y="0"/>
                  </a:lnTo>
                  <a:lnTo>
                    <a:pt x="709676" y="6350"/>
                  </a:lnTo>
                  <a:lnTo>
                    <a:pt x="709676" y="0"/>
                  </a:lnTo>
                  <a:cubicBezTo>
                    <a:pt x="1101598" y="0"/>
                    <a:pt x="1419352" y="319024"/>
                    <a:pt x="1419352" y="712470"/>
                  </a:cubicBezTo>
                  <a:lnTo>
                    <a:pt x="1419352" y="1888744"/>
                  </a:lnTo>
                  <a:lnTo>
                    <a:pt x="1413002" y="1888744"/>
                  </a:lnTo>
                  <a:lnTo>
                    <a:pt x="1419352" y="1888744"/>
                  </a:lnTo>
                  <a:cubicBezTo>
                    <a:pt x="1419352" y="2282190"/>
                    <a:pt x="1101725" y="2601214"/>
                    <a:pt x="709676" y="2601214"/>
                  </a:cubicBezTo>
                  <a:lnTo>
                    <a:pt x="709676" y="2594864"/>
                  </a:lnTo>
                  <a:lnTo>
                    <a:pt x="709676" y="2601214"/>
                  </a:lnTo>
                  <a:cubicBezTo>
                    <a:pt x="317627" y="2601341"/>
                    <a:pt x="0" y="2282317"/>
                    <a:pt x="0" y="1888871"/>
                  </a:cubicBezTo>
                  <a:lnTo>
                    <a:pt x="0" y="712470"/>
                  </a:lnTo>
                  <a:lnTo>
                    <a:pt x="6350" y="712470"/>
                  </a:lnTo>
                  <a:lnTo>
                    <a:pt x="0" y="712470"/>
                  </a:lnTo>
                  <a:moveTo>
                    <a:pt x="12700" y="712470"/>
                  </a:moveTo>
                  <a:lnTo>
                    <a:pt x="12700" y="1888744"/>
                  </a:lnTo>
                  <a:lnTo>
                    <a:pt x="6350" y="1888744"/>
                  </a:lnTo>
                  <a:lnTo>
                    <a:pt x="12700" y="1888744"/>
                  </a:lnTo>
                  <a:cubicBezTo>
                    <a:pt x="12700" y="2275205"/>
                    <a:pt x="324739" y="2588514"/>
                    <a:pt x="709676" y="2588514"/>
                  </a:cubicBezTo>
                  <a:cubicBezTo>
                    <a:pt x="1094613" y="2588514"/>
                    <a:pt x="1406652" y="2275205"/>
                    <a:pt x="1406652" y="1888744"/>
                  </a:cubicBezTo>
                  <a:lnTo>
                    <a:pt x="1406652" y="712470"/>
                  </a:lnTo>
                  <a:lnTo>
                    <a:pt x="1413002" y="712470"/>
                  </a:lnTo>
                  <a:lnTo>
                    <a:pt x="1406652" y="712470"/>
                  </a:lnTo>
                  <a:cubicBezTo>
                    <a:pt x="1406525" y="326009"/>
                    <a:pt x="1094486" y="12700"/>
                    <a:pt x="709676" y="12700"/>
                  </a:cubicBezTo>
                  <a:cubicBezTo>
                    <a:pt x="708406" y="12700"/>
                    <a:pt x="707263" y="12319"/>
                    <a:pt x="706247" y="11684"/>
                  </a:cubicBezTo>
                  <a:lnTo>
                    <a:pt x="709549" y="6350"/>
                  </a:lnTo>
                  <a:lnTo>
                    <a:pt x="709549" y="12700"/>
                  </a:lnTo>
                  <a:cubicBezTo>
                    <a:pt x="324739" y="12700"/>
                    <a:pt x="12700" y="326009"/>
                    <a:pt x="12700" y="712470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252686" y="4706094"/>
            <a:ext cx="395585" cy="437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3062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241649" y="4179689"/>
            <a:ext cx="5083522" cy="421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Control Algorithm Development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241649" y="4664125"/>
            <a:ext cx="15123319" cy="93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Develop a robust Python-based control algorithm that dynamically adjusts signal timings based on real-time traffic density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18270" y="6125915"/>
            <a:ext cx="1064419" cy="1592015"/>
            <a:chOff x="0" y="0"/>
            <a:chExt cx="1419225" cy="212268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6350" y="6350"/>
              <a:ext cx="1406525" cy="2109978"/>
            </a:xfrm>
            <a:custGeom>
              <a:avLst/>
              <a:gdLst/>
              <a:ahLst/>
              <a:cxnLst/>
              <a:rect r="r" b="b" t="t" l="l"/>
              <a:pathLst>
                <a:path h="2109978" w="1406525">
                  <a:moveTo>
                    <a:pt x="0" y="705358"/>
                  </a:moveTo>
                  <a:cubicBezTo>
                    <a:pt x="0" y="315849"/>
                    <a:pt x="314833" y="0"/>
                    <a:pt x="703199" y="0"/>
                  </a:cubicBezTo>
                  <a:cubicBezTo>
                    <a:pt x="1091565" y="0"/>
                    <a:pt x="1406525" y="315849"/>
                    <a:pt x="1406525" y="705358"/>
                  </a:cubicBezTo>
                  <a:lnTo>
                    <a:pt x="1406525" y="1404620"/>
                  </a:lnTo>
                  <a:cubicBezTo>
                    <a:pt x="1406525" y="1794129"/>
                    <a:pt x="1091692" y="2109978"/>
                    <a:pt x="703199" y="2109978"/>
                  </a:cubicBezTo>
                  <a:cubicBezTo>
                    <a:pt x="314706" y="2109978"/>
                    <a:pt x="0" y="1794129"/>
                    <a:pt x="0" y="1404620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19352" cy="2122678"/>
            </a:xfrm>
            <a:custGeom>
              <a:avLst/>
              <a:gdLst/>
              <a:ahLst/>
              <a:cxnLst/>
              <a:rect r="r" b="b" t="t" l="l"/>
              <a:pathLst>
                <a:path h="2122678" w="1419352">
                  <a:moveTo>
                    <a:pt x="0" y="711708"/>
                  </a:moveTo>
                  <a:cubicBezTo>
                    <a:pt x="0" y="318643"/>
                    <a:pt x="317627" y="0"/>
                    <a:pt x="709549" y="0"/>
                  </a:cubicBezTo>
                  <a:cubicBezTo>
                    <a:pt x="710819" y="0"/>
                    <a:pt x="711962" y="381"/>
                    <a:pt x="712978" y="1016"/>
                  </a:cubicBezTo>
                  <a:lnTo>
                    <a:pt x="709676" y="6350"/>
                  </a:lnTo>
                  <a:lnTo>
                    <a:pt x="709676" y="0"/>
                  </a:lnTo>
                  <a:lnTo>
                    <a:pt x="709676" y="6350"/>
                  </a:lnTo>
                  <a:lnTo>
                    <a:pt x="709676" y="0"/>
                  </a:lnTo>
                  <a:cubicBezTo>
                    <a:pt x="1101598" y="0"/>
                    <a:pt x="1419352" y="318643"/>
                    <a:pt x="1419352" y="711708"/>
                  </a:cubicBezTo>
                  <a:lnTo>
                    <a:pt x="1419352" y="1410970"/>
                  </a:lnTo>
                  <a:lnTo>
                    <a:pt x="1413002" y="1410970"/>
                  </a:lnTo>
                  <a:lnTo>
                    <a:pt x="1419352" y="1410970"/>
                  </a:lnTo>
                  <a:cubicBezTo>
                    <a:pt x="1419352" y="1804035"/>
                    <a:pt x="1101725" y="2122678"/>
                    <a:pt x="709676" y="2122678"/>
                  </a:cubicBezTo>
                  <a:lnTo>
                    <a:pt x="709676" y="2116328"/>
                  </a:lnTo>
                  <a:lnTo>
                    <a:pt x="709676" y="2122678"/>
                  </a:lnTo>
                  <a:cubicBezTo>
                    <a:pt x="317627" y="2122678"/>
                    <a:pt x="0" y="1804035"/>
                    <a:pt x="0" y="1410970"/>
                  </a:cubicBezTo>
                  <a:lnTo>
                    <a:pt x="0" y="711708"/>
                  </a:lnTo>
                  <a:lnTo>
                    <a:pt x="6350" y="711708"/>
                  </a:lnTo>
                  <a:lnTo>
                    <a:pt x="0" y="711708"/>
                  </a:lnTo>
                  <a:moveTo>
                    <a:pt x="12700" y="711708"/>
                  </a:moveTo>
                  <a:lnTo>
                    <a:pt x="12700" y="1410970"/>
                  </a:lnTo>
                  <a:lnTo>
                    <a:pt x="6350" y="1410970"/>
                  </a:lnTo>
                  <a:lnTo>
                    <a:pt x="12700" y="1410970"/>
                  </a:lnTo>
                  <a:cubicBezTo>
                    <a:pt x="12700" y="1797050"/>
                    <a:pt x="324739" y="2109978"/>
                    <a:pt x="709676" y="2109978"/>
                  </a:cubicBezTo>
                  <a:cubicBezTo>
                    <a:pt x="1094613" y="2109978"/>
                    <a:pt x="1406652" y="1797050"/>
                    <a:pt x="1406652" y="1410970"/>
                  </a:cubicBezTo>
                  <a:lnTo>
                    <a:pt x="1406652" y="711708"/>
                  </a:lnTo>
                  <a:lnTo>
                    <a:pt x="1413002" y="711708"/>
                  </a:lnTo>
                  <a:lnTo>
                    <a:pt x="1406652" y="711708"/>
                  </a:lnTo>
                  <a:cubicBezTo>
                    <a:pt x="1406525" y="325628"/>
                    <a:pt x="1094486" y="12700"/>
                    <a:pt x="709676" y="12700"/>
                  </a:cubicBezTo>
                  <a:cubicBezTo>
                    <a:pt x="708406" y="12700"/>
                    <a:pt x="707263" y="12319"/>
                    <a:pt x="706247" y="11684"/>
                  </a:cubicBezTo>
                  <a:lnTo>
                    <a:pt x="709549" y="6350"/>
                  </a:lnTo>
                  <a:lnTo>
                    <a:pt x="709549" y="12700"/>
                  </a:lnTo>
                  <a:cubicBezTo>
                    <a:pt x="324739" y="12700"/>
                    <a:pt x="12700" y="325628"/>
                    <a:pt x="12700" y="711708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252686" y="6731794"/>
            <a:ext cx="395585" cy="437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3062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241649" y="6384875"/>
            <a:ext cx="3415904" cy="421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Real-Time Simulation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241649" y="6869311"/>
            <a:ext cx="15123319" cy="517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Create a comprehensive simulation of live traffic scenarios using OpenCV or Pygame for testing and validation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18270" y="7972127"/>
            <a:ext cx="1064419" cy="1592015"/>
            <a:chOff x="0" y="0"/>
            <a:chExt cx="1419225" cy="212268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6350" y="6350"/>
              <a:ext cx="1406525" cy="2109978"/>
            </a:xfrm>
            <a:custGeom>
              <a:avLst/>
              <a:gdLst/>
              <a:ahLst/>
              <a:cxnLst/>
              <a:rect r="r" b="b" t="t" l="l"/>
              <a:pathLst>
                <a:path h="2109978" w="1406525">
                  <a:moveTo>
                    <a:pt x="0" y="705358"/>
                  </a:moveTo>
                  <a:cubicBezTo>
                    <a:pt x="0" y="315849"/>
                    <a:pt x="314833" y="0"/>
                    <a:pt x="703199" y="0"/>
                  </a:cubicBezTo>
                  <a:cubicBezTo>
                    <a:pt x="1091565" y="0"/>
                    <a:pt x="1406525" y="315849"/>
                    <a:pt x="1406525" y="705358"/>
                  </a:cubicBezTo>
                  <a:lnTo>
                    <a:pt x="1406525" y="1404620"/>
                  </a:lnTo>
                  <a:cubicBezTo>
                    <a:pt x="1406525" y="1794129"/>
                    <a:pt x="1091692" y="2109978"/>
                    <a:pt x="703199" y="2109978"/>
                  </a:cubicBezTo>
                  <a:cubicBezTo>
                    <a:pt x="314706" y="2109978"/>
                    <a:pt x="0" y="1794129"/>
                    <a:pt x="0" y="1404620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19352" cy="2122678"/>
            </a:xfrm>
            <a:custGeom>
              <a:avLst/>
              <a:gdLst/>
              <a:ahLst/>
              <a:cxnLst/>
              <a:rect r="r" b="b" t="t" l="l"/>
              <a:pathLst>
                <a:path h="2122678" w="1419352">
                  <a:moveTo>
                    <a:pt x="0" y="711708"/>
                  </a:moveTo>
                  <a:cubicBezTo>
                    <a:pt x="0" y="318643"/>
                    <a:pt x="317627" y="0"/>
                    <a:pt x="709549" y="0"/>
                  </a:cubicBezTo>
                  <a:cubicBezTo>
                    <a:pt x="710819" y="0"/>
                    <a:pt x="711962" y="381"/>
                    <a:pt x="712978" y="1016"/>
                  </a:cubicBezTo>
                  <a:lnTo>
                    <a:pt x="709676" y="6350"/>
                  </a:lnTo>
                  <a:lnTo>
                    <a:pt x="709676" y="0"/>
                  </a:lnTo>
                  <a:lnTo>
                    <a:pt x="709676" y="6350"/>
                  </a:lnTo>
                  <a:lnTo>
                    <a:pt x="709676" y="0"/>
                  </a:lnTo>
                  <a:cubicBezTo>
                    <a:pt x="1101598" y="0"/>
                    <a:pt x="1419352" y="318643"/>
                    <a:pt x="1419352" y="711708"/>
                  </a:cubicBezTo>
                  <a:lnTo>
                    <a:pt x="1419352" y="1410970"/>
                  </a:lnTo>
                  <a:lnTo>
                    <a:pt x="1413002" y="1410970"/>
                  </a:lnTo>
                  <a:lnTo>
                    <a:pt x="1419352" y="1410970"/>
                  </a:lnTo>
                  <a:cubicBezTo>
                    <a:pt x="1419352" y="1804035"/>
                    <a:pt x="1101725" y="2122678"/>
                    <a:pt x="709676" y="2122678"/>
                  </a:cubicBezTo>
                  <a:lnTo>
                    <a:pt x="709676" y="2116328"/>
                  </a:lnTo>
                  <a:lnTo>
                    <a:pt x="709676" y="2122678"/>
                  </a:lnTo>
                  <a:cubicBezTo>
                    <a:pt x="317627" y="2122678"/>
                    <a:pt x="0" y="1804035"/>
                    <a:pt x="0" y="1410970"/>
                  </a:cubicBezTo>
                  <a:lnTo>
                    <a:pt x="0" y="711708"/>
                  </a:lnTo>
                  <a:lnTo>
                    <a:pt x="6350" y="711708"/>
                  </a:lnTo>
                  <a:lnTo>
                    <a:pt x="0" y="711708"/>
                  </a:lnTo>
                  <a:moveTo>
                    <a:pt x="12700" y="711708"/>
                  </a:moveTo>
                  <a:lnTo>
                    <a:pt x="12700" y="1410970"/>
                  </a:lnTo>
                  <a:lnTo>
                    <a:pt x="6350" y="1410970"/>
                  </a:lnTo>
                  <a:lnTo>
                    <a:pt x="12700" y="1410970"/>
                  </a:lnTo>
                  <a:cubicBezTo>
                    <a:pt x="12700" y="1797050"/>
                    <a:pt x="324739" y="2109978"/>
                    <a:pt x="709676" y="2109978"/>
                  </a:cubicBezTo>
                  <a:cubicBezTo>
                    <a:pt x="1094613" y="2109978"/>
                    <a:pt x="1406652" y="1797050"/>
                    <a:pt x="1406652" y="1410970"/>
                  </a:cubicBezTo>
                  <a:lnTo>
                    <a:pt x="1406652" y="711708"/>
                  </a:lnTo>
                  <a:lnTo>
                    <a:pt x="1413002" y="711708"/>
                  </a:lnTo>
                  <a:lnTo>
                    <a:pt x="1406652" y="711708"/>
                  </a:lnTo>
                  <a:cubicBezTo>
                    <a:pt x="1406525" y="325628"/>
                    <a:pt x="1094486" y="12700"/>
                    <a:pt x="709676" y="12700"/>
                  </a:cubicBezTo>
                  <a:cubicBezTo>
                    <a:pt x="708406" y="12700"/>
                    <a:pt x="707263" y="12319"/>
                    <a:pt x="706247" y="11684"/>
                  </a:cubicBezTo>
                  <a:lnTo>
                    <a:pt x="709549" y="6350"/>
                  </a:lnTo>
                  <a:lnTo>
                    <a:pt x="709549" y="12700"/>
                  </a:lnTo>
                  <a:cubicBezTo>
                    <a:pt x="324739" y="12700"/>
                    <a:pt x="12700" y="325628"/>
                    <a:pt x="12700" y="711708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252686" y="8578006"/>
            <a:ext cx="395585" cy="437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3062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4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241649" y="8231089"/>
            <a:ext cx="4143078" cy="421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Performance Comparison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241649" y="8715524"/>
            <a:ext cx="15123319" cy="517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Conduct thorough analysis comparing the adaptive system's efficiency against traditional static signal systems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02165" y="919460"/>
            <a:ext cx="6768852" cy="881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25"/>
              </a:lnSpc>
            </a:pPr>
            <a:r>
              <a:rPr lang="en-US" sz="525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System Architecture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802165" y="2205335"/>
            <a:ext cx="1348829" cy="1985814"/>
            <a:chOff x="0" y="0"/>
            <a:chExt cx="1798438" cy="2647752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1798447" cy="2647696"/>
            </a:xfrm>
            <a:custGeom>
              <a:avLst/>
              <a:gdLst/>
              <a:ahLst/>
              <a:cxnLst/>
              <a:rect r="r" b="b" t="t" l="l"/>
              <a:pathLst>
                <a:path h="2647696" w="1798447">
                  <a:moveTo>
                    <a:pt x="0" y="0"/>
                  </a:moveTo>
                  <a:lnTo>
                    <a:pt x="1798447" y="0"/>
                  </a:lnTo>
                  <a:lnTo>
                    <a:pt x="1798447" y="2647696"/>
                  </a:lnTo>
                  <a:lnTo>
                    <a:pt x="0" y="26476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54" t="0" r="-254" b="-2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420671" y="2455961"/>
            <a:ext cx="3372296" cy="440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Data Collection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20671" y="2963019"/>
            <a:ext cx="7923162" cy="958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0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Cameras and sensors capture vehicle counts and traffic patterns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7802165" y="4191149"/>
            <a:ext cx="1348829" cy="1985814"/>
            <a:chOff x="0" y="0"/>
            <a:chExt cx="1798438" cy="2647752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1798447" cy="2647696"/>
            </a:xfrm>
            <a:custGeom>
              <a:avLst/>
              <a:gdLst/>
              <a:ahLst/>
              <a:cxnLst/>
              <a:rect r="r" b="b" t="t" l="l"/>
              <a:pathLst>
                <a:path h="2647696" w="1798447">
                  <a:moveTo>
                    <a:pt x="0" y="0"/>
                  </a:moveTo>
                  <a:lnTo>
                    <a:pt x="1798447" y="0"/>
                  </a:lnTo>
                  <a:lnTo>
                    <a:pt x="1798447" y="2647696"/>
                  </a:lnTo>
                  <a:lnTo>
                    <a:pt x="0" y="26476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54" t="0" r="-254" b="-2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420671" y="4441775"/>
            <a:ext cx="3372296" cy="440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AI Processing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420671" y="4948832"/>
            <a:ext cx="7923162" cy="958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0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Machine learning algorithms analyze density and predict optimal timing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7802165" y="6176962"/>
            <a:ext cx="1348829" cy="1985814"/>
            <a:chOff x="0" y="0"/>
            <a:chExt cx="1798438" cy="2647752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1798447" cy="2647696"/>
            </a:xfrm>
            <a:custGeom>
              <a:avLst/>
              <a:gdLst/>
              <a:ahLst/>
              <a:cxnLst/>
              <a:rect r="r" b="b" t="t" l="l"/>
              <a:pathLst>
                <a:path h="2647696" w="1798447">
                  <a:moveTo>
                    <a:pt x="0" y="0"/>
                  </a:moveTo>
                  <a:lnTo>
                    <a:pt x="1798447" y="0"/>
                  </a:lnTo>
                  <a:lnTo>
                    <a:pt x="1798447" y="2647696"/>
                  </a:lnTo>
                  <a:lnTo>
                    <a:pt x="0" y="26476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54" t="0" r="-254" b="-2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9420671" y="6427589"/>
            <a:ext cx="3372296" cy="440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Signal Control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420671" y="6934646"/>
            <a:ext cx="7923162" cy="958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0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System adjusts light duration dynamically based on real-time conditions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802165" y="8370986"/>
            <a:ext cx="9541669" cy="958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0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The system operates in a continuous feedback loop, constantly monitoring conditions and adapting to ensure smooth traffic flow throughout the day.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3259634"/>
            <a:ext cx="9986814" cy="914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Project Scope &amp; Applications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5005685"/>
            <a:ext cx="3807916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Smart City Integration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5552034"/>
            <a:ext cx="5198269" cy="144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Deploy across urban areas for comprehensive traffic management and improved quality of life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544866" y="5005685"/>
            <a:ext cx="3544044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Emergency Priority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544866" y="5552034"/>
            <a:ext cx="5198269" cy="144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Enable priority routing for ambulances, fire trucks, and police vehicles to save critical time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097494" y="5005685"/>
            <a:ext cx="4025354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Environmental Benefits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097494" y="5552034"/>
            <a:ext cx="5198269" cy="144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Significantly reduce fuel consumption and air pollution through optimized traffic flow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651272" y="483096"/>
            <a:ext cx="4962227" cy="610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2"/>
              </a:lnSpc>
            </a:pPr>
            <a:r>
              <a:rPr lang="en-US" sz="3625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Future Enhancements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5210472" y="1581447"/>
            <a:ext cx="19050" cy="4593431"/>
            <a:chOff x="0" y="0"/>
            <a:chExt cx="25400" cy="612457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400" cy="6124575"/>
            </a:xfrm>
            <a:custGeom>
              <a:avLst/>
              <a:gdLst/>
              <a:ahLst/>
              <a:cxnLst/>
              <a:rect r="r" b="b" t="t" l="l"/>
              <a:pathLst>
                <a:path h="6124575" w="25400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cubicBezTo>
                    <a:pt x="19685" y="0"/>
                    <a:pt x="25400" y="5715"/>
                    <a:pt x="25400" y="12700"/>
                  </a:cubicBezTo>
                  <a:lnTo>
                    <a:pt x="25400" y="6111875"/>
                  </a:lnTo>
                  <a:cubicBezTo>
                    <a:pt x="25400" y="6118860"/>
                    <a:pt x="19685" y="6124575"/>
                    <a:pt x="12700" y="6124575"/>
                  </a:cubicBezTo>
                  <a:cubicBezTo>
                    <a:pt x="5715" y="6124575"/>
                    <a:pt x="0" y="6118860"/>
                    <a:pt x="0" y="6111875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4471615" y="1781175"/>
            <a:ext cx="558105" cy="19050"/>
            <a:chOff x="0" y="0"/>
            <a:chExt cx="744140" cy="25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44093" cy="25400"/>
            </a:xfrm>
            <a:custGeom>
              <a:avLst/>
              <a:gdLst/>
              <a:ahLst/>
              <a:cxnLst/>
              <a:rect r="r" b="b" t="t" l="l"/>
              <a:pathLst>
                <a:path h="25400" w="744093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731393" y="0"/>
                  </a:lnTo>
                  <a:cubicBezTo>
                    <a:pt x="738378" y="0"/>
                    <a:pt x="744093" y="5715"/>
                    <a:pt x="744093" y="12700"/>
                  </a:cubicBezTo>
                  <a:cubicBezTo>
                    <a:pt x="744093" y="19685"/>
                    <a:pt x="738378" y="25400"/>
                    <a:pt x="731393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005909" y="1576685"/>
            <a:ext cx="428179" cy="428179"/>
            <a:chOff x="0" y="0"/>
            <a:chExt cx="570905" cy="57090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6350" y="6350"/>
              <a:ext cx="558292" cy="558292"/>
            </a:xfrm>
            <a:custGeom>
              <a:avLst/>
              <a:gdLst/>
              <a:ahLst/>
              <a:cxnLst/>
              <a:rect r="r" b="b" t="t" l="l"/>
              <a:pathLst>
                <a:path h="558292" w="558292">
                  <a:moveTo>
                    <a:pt x="0" y="104267"/>
                  </a:moveTo>
                  <a:cubicBezTo>
                    <a:pt x="0" y="46609"/>
                    <a:pt x="46609" y="0"/>
                    <a:pt x="104267" y="0"/>
                  </a:cubicBezTo>
                  <a:lnTo>
                    <a:pt x="454025" y="0"/>
                  </a:lnTo>
                  <a:cubicBezTo>
                    <a:pt x="511556" y="0"/>
                    <a:pt x="558292" y="46609"/>
                    <a:pt x="558292" y="104267"/>
                  </a:cubicBezTo>
                  <a:lnTo>
                    <a:pt x="558292" y="454025"/>
                  </a:lnTo>
                  <a:cubicBezTo>
                    <a:pt x="558292" y="511556"/>
                    <a:pt x="511683" y="558292"/>
                    <a:pt x="454025" y="558292"/>
                  </a:cubicBezTo>
                  <a:lnTo>
                    <a:pt x="104267" y="558292"/>
                  </a:lnTo>
                  <a:cubicBezTo>
                    <a:pt x="46609" y="558165"/>
                    <a:pt x="0" y="511556"/>
                    <a:pt x="0" y="454025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0992" cy="570992"/>
            </a:xfrm>
            <a:custGeom>
              <a:avLst/>
              <a:gdLst/>
              <a:ahLst/>
              <a:cxnLst/>
              <a:rect r="r" b="b" t="t" l="l"/>
              <a:pathLst>
                <a:path h="570992" w="570992">
                  <a:moveTo>
                    <a:pt x="0" y="110617"/>
                  </a:moveTo>
                  <a:cubicBezTo>
                    <a:pt x="0" y="49530"/>
                    <a:pt x="49530" y="0"/>
                    <a:pt x="110617" y="0"/>
                  </a:cubicBezTo>
                  <a:lnTo>
                    <a:pt x="460375" y="0"/>
                  </a:lnTo>
                  <a:lnTo>
                    <a:pt x="460375" y="6350"/>
                  </a:lnTo>
                  <a:lnTo>
                    <a:pt x="460375" y="0"/>
                  </a:lnTo>
                  <a:cubicBezTo>
                    <a:pt x="521462" y="0"/>
                    <a:pt x="570992" y="49530"/>
                    <a:pt x="570992" y="110617"/>
                  </a:cubicBezTo>
                  <a:lnTo>
                    <a:pt x="564642" y="110617"/>
                  </a:lnTo>
                  <a:lnTo>
                    <a:pt x="570992" y="110617"/>
                  </a:lnTo>
                  <a:lnTo>
                    <a:pt x="570992" y="460375"/>
                  </a:lnTo>
                  <a:lnTo>
                    <a:pt x="564642" y="460375"/>
                  </a:lnTo>
                  <a:lnTo>
                    <a:pt x="570992" y="460375"/>
                  </a:lnTo>
                  <a:cubicBezTo>
                    <a:pt x="570992" y="521462"/>
                    <a:pt x="521462" y="570992"/>
                    <a:pt x="460375" y="570992"/>
                  </a:cubicBezTo>
                  <a:lnTo>
                    <a:pt x="460375" y="564642"/>
                  </a:lnTo>
                  <a:lnTo>
                    <a:pt x="460375" y="570992"/>
                  </a:lnTo>
                  <a:lnTo>
                    <a:pt x="110617" y="570992"/>
                  </a:lnTo>
                  <a:lnTo>
                    <a:pt x="110617" y="564642"/>
                  </a:lnTo>
                  <a:lnTo>
                    <a:pt x="110617" y="570992"/>
                  </a:lnTo>
                  <a:cubicBezTo>
                    <a:pt x="49530" y="570865"/>
                    <a:pt x="0" y="521462"/>
                    <a:pt x="0" y="460375"/>
                  </a:cubicBezTo>
                  <a:lnTo>
                    <a:pt x="0" y="110617"/>
                  </a:lnTo>
                  <a:lnTo>
                    <a:pt x="6350" y="110617"/>
                  </a:lnTo>
                  <a:lnTo>
                    <a:pt x="0" y="110617"/>
                  </a:lnTo>
                  <a:moveTo>
                    <a:pt x="12700" y="110617"/>
                  </a:moveTo>
                  <a:lnTo>
                    <a:pt x="12700" y="460375"/>
                  </a:lnTo>
                  <a:lnTo>
                    <a:pt x="6350" y="460375"/>
                  </a:lnTo>
                  <a:lnTo>
                    <a:pt x="12700" y="460375"/>
                  </a:lnTo>
                  <a:cubicBezTo>
                    <a:pt x="12700" y="514477"/>
                    <a:pt x="56515" y="558292"/>
                    <a:pt x="110617" y="558292"/>
                  </a:cubicBezTo>
                  <a:lnTo>
                    <a:pt x="460375" y="558292"/>
                  </a:lnTo>
                  <a:cubicBezTo>
                    <a:pt x="514477" y="558292"/>
                    <a:pt x="558292" y="514477"/>
                    <a:pt x="558292" y="460375"/>
                  </a:cubicBezTo>
                  <a:lnTo>
                    <a:pt x="558292" y="110617"/>
                  </a:lnTo>
                  <a:cubicBezTo>
                    <a:pt x="558165" y="56515"/>
                    <a:pt x="514350" y="12700"/>
                    <a:pt x="460375" y="12700"/>
                  </a:cubicBezTo>
                  <a:lnTo>
                    <a:pt x="110617" y="12700"/>
                  </a:lnTo>
                  <a:lnTo>
                    <a:pt x="110617" y="6350"/>
                  </a:lnTo>
                  <a:lnTo>
                    <a:pt x="110617" y="12700"/>
                  </a:lnTo>
                  <a:cubicBezTo>
                    <a:pt x="56515" y="12700"/>
                    <a:pt x="12700" y="56515"/>
                    <a:pt x="12700" y="110617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080398" y="1663899"/>
            <a:ext cx="279052" cy="301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7"/>
              </a:lnSpc>
            </a:pPr>
            <a:r>
              <a:rPr lang="en-US" sz="2187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18952" y="1635770"/>
            <a:ext cx="2670721" cy="300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9"/>
              </a:lnSpc>
            </a:pPr>
            <a:r>
              <a:rPr lang="en-US" sz="1812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IoT Network Integration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51272" y="2055316"/>
            <a:ext cx="3638401" cy="661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2"/>
              </a:lnSpc>
            </a:pPr>
            <a:r>
              <a:rPr lang="en-US" sz="143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Connect with city-wide sensor networks for comprehensive traffic monitoring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5410275" y="2897535"/>
            <a:ext cx="558105" cy="19050"/>
            <a:chOff x="0" y="0"/>
            <a:chExt cx="744140" cy="25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44093" cy="25400"/>
            </a:xfrm>
            <a:custGeom>
              <a:avLst/>
              <a:gdLst/>
              <a:ahLst/>
              <a:cxnLst/>
              <a:rect r="r" b="b" t="t" l="l"/>
              <a:pathLst>
                <a:path h="25400" w="744093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731393" y="0"/>
                  </a:lnTo>
                  <a:cubicBezTo>
                    <a:pt x="738378" y="0"/>
                    <a:pt x="744093" y="5715"/>
                    <a:pt x="744093" y="12700"/>
                  </a:cubicBezTo>
                  <a:cubicBezTo>
                    <a:pt x="744093" y="19685"/>
                    <a:pt x="738378" y="25400"/>
                    <a:pt x="731393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5005909" y="2693045"/>
            <a:ext cx="428179" cy="428179"/>
            <a:chOff x="0" y="0"/>
            <a:chExt cx="570905" cy="57090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6350" y="6350"/>
              <a:ext cx="558292" cy="558292"/>
            </a:xfrm>
            <a:custGeom>
              <a:avLst/>
              <a:gdLst/>
              <a:ahLst/>
              <a:cxnLst/>
              <a:rect r="r" b="b" t="t" l="l"/>
              <a:pathLst>
                <a:path h="558292" w="558292">
                  <a:moveTo>
                    <a:pt x="0" y="104267"/>
                  </a:moveTo>
                  <a:cubicBezTo>
                    <a:pt x="0" y="46609"/>
                    <a:pt x="46609" y="0"/>
                    <a:pt x="104267" y="0"/>
                  </a:cubicBezTo>
                  <a:lnTo>
                    <a:pt x="454025" y="0"/>
                  </a:lnTo>
                  <a:cubicBezTo>
                    <a:pt x="511556" y="0"/>
                    <a:pt x="558292" y="46609"/>
                    <a:pt x="558292" y="104267"/>
                  </a:cubicBezTo>
                  <a:lnTo>
                    <a:pt x="558292" y="454025"/>
                  </a:lnTo>
                  <a:cubicBezTo>
                    <a:pt x="558292" y="511556"/>
                    <a:pt x="511683" y="558292"/>
                    <a:pt x="454025" y="558292"/>
                  </a:cubicBezTo>
                  <a:lnTo>
                    <a:pt x="104267" y="558292"/>
                  </a:lnTo>
                  <a:cubicBezTo>
                    <a:pt x="46609" y="558165"/>
                    <a:pt x="0" y="511556"/>
                    <a:pt x="0" y="454025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70992" cy="570992"/>
            </a:xfrm>
            <a:custGeom>
              <a:avLst/>
              <a:gdLst/>
              <a:ahLst/>
              <a:cxnLst/>
              <a:rect r="r" b="b" t="t" l="l"/>
              <a:pathLst>
                <a:path h="570992" w="570992">
                  <a:moveTo>
                    <a:pt x="0" y="110617"/>
                  </a:moveTo>
                  <a:cubicBezTo>
                    <a:pt x="0" y="49530"/>
                    <a:pt x="49530" y="0"/>
                    <a:pt x="110617" y="0"/>
                  </a:cubicBezTo>
                  <a:lnTo>
                    <a:pt x="460375" y="0"/>
                  </a:lnTo>
                  <a:lnTo>
                    <a:pt x="460375" y="6350"/>
                  </a:lnTo>
                  <a:lnTo>
                    <a:pt x="460375" y="0"/>
                  </a:lnTo>
                  <a:cubicBezTo>
                    <a:pt x="521462" y="0"/>
                    <a:pt x="570992" y="49530"/>
                    <a:pt x="570992" y="110617"/>
                  </a:cubicBezTo>
                  <a:lnTo>
                    <a:pt x="564642" y="110617"/>
                  </a:lnTo>
                  <a:lnTo>
                    <a:pt x="570992" y="110617"/>
                  </a:lnTo>
                  <a:lnTo>
                    <a:pt x="570992" y="460375"/>
                  </a:lnTo>
                  <a:lnTo>
                    <a:pt x="564642" y="460375"/>
                  </a:lnTo>
                  <a:lnTo>
                    <a:pt x="570992" y="460375"/>
                  </a:lnTo>
                  <a:cubicBezTo>
                    <a:pt x="570992" y="521462"/>
                    <a:pt x="521462" y="570992"/>
                    <a:pt x="460375" y="570992"/>
                  </a:cubicBezTo>
                  <a:lnTo>
                    <a:pt x="460375" y="564642"/>
                  </a:lnTo>
                  <a:lnTo>
                    <a:pt x="460375" y="570992"/>
                  </a:lnTo>
                  <a:lnTo>
                    <a:pt x="110617" y="570992"/>
                  </a:lnTo>
                  <a:lnTo>
                    <a:pt x="110617" y="564642"/>
                  </a:lnTo>
                  <a:lnTo>
                    <a:pt x="110617" y="570992"/>
                  </a:lnTo>
                  <a:cubicBezTo>
                    <a:pt x="49530" y="570865"/>
                    <a:pt x="0" y="521462"/>
                    <a:pt x="0" y="460375"/>
                  </a:cubicBezTo>
                  <a:lnTo>
                    <a:pt x="0" y="110617"/>
                  </a:lnTo>
                  <a:lnTo>
                    <a:pt x="6350" y="110617"/>
                  </a:lnTo>
                  <a:lnTo>
                    <a:pt x="0" y="110617"/>
                  </a:lnTo>
                  <a:moveTo>
                    <a:pt x="12700" y="110617"/>
                  </a:moveTo>
                  <a:lnTo>
                    <a:pt x="12700" y="460375"/>
                  </a:lnTo>
                  <a:lnTo>
                    <a:pt x="6350" y="460375"/>
                  </a:lnTo>
                  <a:lnTo>
                    <a:pt x="12700" y="460375"/>
                  </a:lnTo>
                  <a:cubicBezTo>
                    <a:pt x="12700" y="514477"/>
                    <a:pt x="56515" y="558292"/>
                    <a:pt x="110617" y="558292"/>
                  </a:cubicBezTo>
                  <a:lnTo>
                    <a:pt x="460375" y="558292"/>
                  </a:lnTo>
                  <a:cubicBezTo>
                    <a:pt x="514477" y="558292"/>
                    <a:pt x="558292" y="514477"/>
                    <a:pt x="558292" y="460375"/>
                  </a:cubicBezTo>
                  <a:lnTo>
                    <a:pt x="558292" y="110617"/>
                  </a:lnTo>
                  <a:cubicBezTo>
                    <a:pt x="558165" y="56515"/>
                    <a:pt x="514350" y="12700"/>
                    <a:pt x="460375" y="12700"/>
                  </a:cubicBezTo>
                  <a:lnTo>
                    <a:pt x="110617" y="12700"/>
                  </a:lnTo>
                  <a:lnTo>
                    <a:pt x="110617" y="6350"/>
                  </a:lnTo>
                  <a:lnTo>
                    <a:pt x="110617" y="12700"/>
                  </a:lnTo>
                  <a:cubicBezTo>
                    <a:pt x="56515" y="12700"/>
                    <a:pt x="12700" y="56515"/>
                    <a:pt x="12700" y="110617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5080398" y="2780259"/>
            <a:ext cx="279052" cy="301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7"/>
              </a:lnSpc>
            </a:pPr>
            <a:r>
              <a:rPr lang="en-US" sz="2187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150322" y="2752130"/>
            <a:ext cx="2378274" cy="300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812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Navigation App Sync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150322" y="3171676"/>
            <a:ext cx="3638550" cy="959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43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Integrate with Google Maps and other platforms to provide real-time routing updates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4471615" y="3859709"/>
            <a:ext cx="558105" cy="19050"/>
            <a:chOff x="0" y="0"/>
            <a:chExt cx="744140" cy="25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44093" cy="25400"/>
            </a:xfrm>
            <a:custGeom>
              <a:avLst/>
              <a:gdLst/>
              <a:ahLst/>
              <a:cxnLst/>
              <a:rect r="r" b="b" t="t" l="l"/>
              <a:pathLst>
                <a:path h="25400" w="744093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731393" y="0"/>
                  </a:lnTo>
                  <a:cubicBezTo>
                    <a:pt x="738378" y="0"/>
                    <a:pt x="744093" y="5715"/>
                    <a:pt x="744093" y="12700"/>
                  </a:cubicBezTo>
                  <a:cubicBezTo>
                    <a:pt x="744093" y="19685"/>
                    <a:pt x="738378" y="25400"/>
                    <a:pt x="731393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5005909" y="3655219"/>
            <a:ext cx="428179" cy="428179"/>
            <a:chOff x="0" y="0"/>
            <a:chExt cx="570905" cy="57090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6350" y="6350"/>
              <a:ext cx="558292" cy="558292"/>
            </a:xfrm>
            <a:custGeom>
              <a:avLst/>
              <a:gdLst/>
              <a:ahLst/>
              <a:cxnLst/>
              <a:rect r="r" b="b" t="t" l="l"/>
              <a:pathLst>
                <a:path h="558292" w="558292">
                  <a:moveTo>
                    <a:pt x="0" y="104267"/>
                  </a:moveTo>
                  <a:cubicBezTo>
                    <a:pt x="0" y="46609"/>
                    <a:pt x="46609" y="0"/>
                    <a:pt x="104267" y="0"/>
                  </a:cubicBezTo>
                  <a:lnTo>
                    <a:pt x="454025" y="0"/>
                  </a:lnTo>
                  <a:cubicBezTo>
                    <a:pt x="511556" y="0"/>
                    <a:pt x="558292" y="46609"/>
                    <a:pt x="558292" y="104267"/>
                  </a:cubicBezTo>
                  <a:lnTo>
                    <a:pt x="558292" y="454025"/>
                  </a:lnTo>
                  <a:cubicBezTo>
                    <a:pt x="558292" y="511556"/>
                    <a:pt x="511683" y="558292"/>
                    <a:pt x="454025" y="558292"/>
                  </a:cubicBezTo>
                  <a:lnTo>
                    <a:pt x="104267" y="558292"/>
                  </a:lnTo>
                  <a:cubicBezTo>
                    <a:pt x="46609" y="558165"/>
                    <a:pt x="0" y="511556"/>
                    <a:pt x="0" y="454025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70992" cy="570992"/>
            </a:xfrm>
            <a:custGeom>
              <a:avLst/>
              <a:gdLst/>
              <a:ahLst/>
              <a:cxnLst/>
              <a:rect r="r" b="b" t="t" l="l"/>
              <a:pathLst>
                <a:path h="570992" w="570992">
                  <a:moveTo>
                    <a:pt x="0" y="110617"/>
                  </a:moveTo>
                  <a:cubicBezTo>
                    <a:pt x="0" y="49530"/>
                    <a:pt x="49530" y="0"/>
                    <a:pt x="110617" y="0"/>
                  </a:cubicBezTo>
                  <a:lnTo>
                    <a:pt x="460375" y="0"/>
                  </a:lnTo>
                  <a:lnTo>
                    <a:pt x="460375" y="6350"/>
                  </a:lnTo>
                  <a:lnTo>
                    <a:pt x="460375" y="0"/>
                  </a:lnTo>
                  <a:cubicBezTo>
                    <a:pt x="521462" y="0"/>
                    <a:pt x="570992" y="49530"/>
                    <a:pt x="570992" y="110617"/>
                  </a:cubicBezTo>
                  <a:lnTo>
                    <a:pt x="564642" y="110617"/>
                  </a:lnTo>
                  <a:lnTo>
                    <a:pt x="570992" y="110617"/>
                  </a:lnTo>
                  <a:lnTo>
                    <a:pt x="570992" y="460375"/>
                  </a:lnTo>
                  <a:lnTo>
                    <a:pt x="564642" y="460375"/>
                  </a:lnTo>
                  <a:lnTo>
                    <a:pt x="570992" y="460375"/>
                  </a:lnTo>
                  <a:cubicBezTo>
                    <a:pt x="570992" y="521462"/>
                    <a:pt x="521462" y="570992"/>
                    <a:pt x="460375" y="570992"/>
                  </a:cubicBezTo>
                  <a:lnTo>
                    <a:pt x="460375" y="564642"/>
                  </a:lnTo>
                  <a:lnTo>
                    <a:pt x="460375" y="570992"/>
                  </a:lnTo>
                  <a:lnTo>
                    <a:pt x="110617" y="570992"/>
                  </a:lnTo>
                  <a:lnTo>
                    <a:pt x="110617" y="564642"/>
                  </a:lnTo>
                  <a:lnTo>
                    <a:pt x="110617" y="570992"/>
                  </a:lnTo>
                  <a:cubicBezTo>
                    <a:pt x="49530" y="570865"/>
                    <a:pt x="0" y="521462"/>
                    <a:pt x="0" y="460375"/>
                  </a:cubicBezTo>
                  <a:lnTo>
                    <a:pt x="0" y="110617"/>
                  </a:lnTo>
                  <a:lnTo>
                    <a:pt x="6350" y="110617"/>
                  </a:lnTo>
                  <a:lnTo>
                    <a:pt x="0" y="110617"/>
                  </a:lnTo>
                  <a:moveTo>
                    <a:pt x="12700" y="110617"/>
                  </a:moveTo>
                  <a:lnTo>
                    <a:pt x="12700" y="460375"/>
                  </a:lnTo>
                  <a:lnTo>
                    <a:pt x="6350" y="460375"/>
                  </a:lnTo>
                  <a:lnTo>
                    <a:pt x="12700" y="460375"/>
                  </a:lnTo>
                  <a:cubicBezTo>
                    <a:pt x="12700" y="514477"/>
                    <a:pt x="56515" y="558292"/>
                    <a:pt x="110617" y="558292"/>
                  </a:cubicBezTo>
                  <a:lnTo>
                    <a:pt x="460375" y="558292"/>
                  </a:lnTo>
                  <a:cubicBezTo>
                    <a:pt x="514477" y="558292"/>
                    <a:pt x="558292" y="514477"/>
                    <a:pt x="558292" y="460375"/>
                  </a:cubicBezTo>
                  <a:lnTo>
                    <a:pt x="558292" y="110617"/>
                  </a:lnTo>
                  <a:cubicBezTo>
                    <a:pt x="558165" y="56515"/>
                    <a:pt x="514350" y="12700"/>
                    <a:pt x="460375" y="12700"/>
                  </a:cubicBezTo>
                  <a:lnTo>
                    <a:pt x="110617" y="12700"/>
                  </a:lnTo>
                  <a:lnTo>
                    <a:pt x="110617" y="6350"/>
                  </a:lnTo>
                  <a:lnTo>
                    <a:pt x="110617" y="12700"/>
                  </a:lnTo>
                  <a:cubicBezTo>
                    <a:pt x="56515" y="12700"/>
                    <a:pt x="12700" y="56515"/>
                    <a:pt x="12700" y="110617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5080398" y="3742432"/>
            <a:ext cx="279052" cy="301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7"/>
              </a:lnSpc>
            </a:pPr>
            <a:r>
              <a:rPr lang="en-US" sz="2187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3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963639" y="3714304"/>
            <a:ext cx="2326035" cy="300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9"/>
              </a:lnSpc>
            </a:pPr>
            <a:r>
              <a:rPr lang="en-US" sz="1812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Cloud Analytics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51272" y="4133850"/>
            <a:ext cx="3638401" cy="661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2"/>
              </a:lnSpc>
            </a:pPr>
            <a:r>
              <a:rPr lang="en-US" sz="143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Deploy cloud-based machine learning for predictive traffic management at scale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5410275" y="4822031"/>
            <a:ext cx="558105" cy="19050"/>
            <a:chOff x="0" y="0"/>
            <a:chExt cx="744140" cy="25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44093" cy="25400"/>
            </a:xfrm>
            <a:custGeom>
              <a:avLst/>
              <a:gdLst/>
              <a:ahLst/>
              <a:cxnLst/>
              <a:rect r="r" b="b" t="t" l="l"/>
              <a:pathLst>
                <a:path h="25400" w="744093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731393" y="0"/>
                  </a:lnTo>
                  <a:cubicBezTo>
                    <a:pt x="738378" y="0"/>
                    <a:pt x="744093" y="5715"/>
                    <a:pt x="744093" y="12700"/>
                  </a:cubicBezTo>
                  <a:cubicBezTo>
                    <a:pt x="744093" y="19685"/>
                    <a:pt x="738378" y="25400"/>
                    <a:pt x="731393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5005909" y="4617541"/>
            <a:ext cx="428179" cy="428179"/>
            <a:chOff x="0" y="0"/>
            <a:chExt cx="570905" cy="57090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6350" y="6350"/>
              <a:ext cx="558292" cy="558292"/>
            </a:xfrm>
            <a:custGeom>
              <a:avLst/>
              <a:gdLst/>
              <a:ahLst/>
              <a:cxnLst/>
              <a:rect r="r" b="b" t="t" l="l"/>
              <a:pathLst>
                <a:path h="558292" w="558292">
                  <a:moveTo>
                    <a:pt x="0" y="104267"/>
                  </a:moveTo>
                  <a:cubicBezTo>
                    <a:pt x="0" y="46609"/>
                    <a:pt x="46609" y="0"/>
                    <a:pt x="104267" y="0"/>
                  </a:cubicBezTo>
                  <a:lnTo>
                    <a:pt x="454025" y="0"/>
                  </a:lnTo>
                  <a:cubicBezTo>
                    <a:pt x="511556" y="0"/>
                    <a:pt x="558292" y="46609"/>
                    <a:pt x="558292" y="104267"/>
                  </a:cubicBezTo>
                  <a:lnTo>
                    <a:pt x="558292" y="454025"/>
                  </a:lnTo>
                  <a:cubicBezTo>
                    <a:pt x="558292" y="511556"/>
                    <a:pt x="511683" y="558292"/>
                    <a:pt x="454025" y="558292"/>
                  </a:cubicBezTo>
                  <a:lnTo>
                    <a:pt x="104267" y="558292"/>
                  </a:lnTo>
                  <a:cubicBezTo>
                    <a:pt x="46609" y="558165"/>
                    <a:pt x="0" y="511556"/>
                    <a:pt x="0" y="454025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70992" cy="570992"/>
            </a:xfrm>
            <a:custGeom>
              <a:avLst/>
              <a:gdLst/>
              <a:ahLst/>
              <a:cxnLst/>
              <a:rect r="r" b="b" t="t" l="l"/>
              <a:pathLst>
                <a:path h="570992" w="570992">
                  <a:moveTo>
                    <a:pt x="0" y="110617"/>
                  </a:moveTo>
                  <a:cubicBezTo>
                    <a:pt x="0" y="49530"/>
                    <a:pt x="49530" y="0"/>
                    <a:pt x="110617" y="0"/>
                  </a:cubicBezTo>
                  <a:lnTo>
                    <a:pt x="460375" y="0"/>
                  </a:lnTo>
                  <a:lnTo>
                    <a:pt x="460375" y="6350"/>
                  </a:lnTo>
                  <a:lnTo>
                    <a:pt x="460375" y="0"/>
                  </a:lnTo>
                  <a:cubicBezTo>
                    <a:pt x="521462" y="0"/>
                    <a:pt x="570992" y="49530"/>
                    <a:pt x="570992" y="110617"/>
                  </a:cubicBezTo>
                  <a:lnTo>
                    <a:pt x="564642" y="110617"/>
                  </a:lnTo>
                  <a:lnTo>
                    <a:pt x="570992" y="110617"/>
                  </a:lnTo>
                  <a:lnTo>
                    <a:pt x="570992" y="460375"/>
                  </a:lnTo>
                  <a:lnTo>
                    <a:pt x="564642" y="460375"/>
                  </a:lnTo>
                  <a:lnTo>
                    <a:pt x="570992" y="460375"/>
                  </a:lnTo>
                  <a:cubicBezTo>
                    <a:pt x="570992" y="521462"/>
                    <a:pt x="521462" y="570992"/>
                    <a:pt x="460375" y="570992"/>
                  </a:cubicBezTo>
                  <a:lnTo>
                    <a:pt x="460375" y="564642"/>
                  </a:lnTo>
                  <a:lnTo>
                    <a:pt x="460375" y="570992"/>
                  </a:lnTo>
                  <a:lnTo>
                    <a:pt x="110617" y="570992"/>
                  </a:lnTo>
                  <a:lnTo>
                    <a:pt x="110617" y="564642"/>
                  </a:lnTo>
                  <a:lnTo>
                    <a:pt x="110617" y="570992"/>
                  </a:lnTo>
                  <a:cubicBezTo>
                    <a:pt x="49530" y="570865"/>
                    <a:pt x="0" y="521462"/>
                    <a:pt x="0" y="460375"/>
                  </a:cubicBezTo>
                  <a:lnTo>
                    <a:pt x="0" y="110617"/>
                  </a:lnTo>
                  <a:lnTo>
                    <a:pt x="6350" y="110617"/>
                  </a:lnTo>
                  <a:lnTo>
                    <a:pt x="0" y="110617"/>
                  </a:lnTo>
                  <a:moveTo>
                    <a:pt x="12700" y="110617"/>
                  </a:moveTo>
                  <a:lnTo>
                    <a:pt x="12700" y="460375"/>
                  </a:lnTo>
                  <a:lnTo>
                    <a:pt x="6350" y="460375"/>
                  </a:lnTo>
                  <a:lnTo>
                    <a:pt x="12700" y="460375"/>
                  </a:lnTo>
                  <a:cubicBezTo>
                    <a:pt x="12700" y="514477"/>
                    <a:pt x="56515" y="558292"/>
                    <a:pt x="110617" y="558292"/>
                  </a:cubicBezTo>
                  <a:lnTo>
                    <a:pt x="460375" y="558292"/>
                  </a:lnTo>
                  <a:cubicBezTo>
                    <a:pt x="514477" y="558292"/>
                    <a:pt x="558292" y="514477"/>
                    <a:pt x="558292" y="460375"/>
                  </a:cubicBezTo>
                  <a:lnTo>
                    <a:pt x="558292" y="110617"/>
                  </a:lnTo>
                  <a:cubicBezTo>
                    <a:pt x="558165" y="56515"/>
                    <a:pt x="514350" y="12700"/>
                    <a:pt x="460375" y="12700"/>
                  </a:cubicBezTo>
                  <a:lnTo>
                    <a:pt x="110617" y="12700"/>
                  </a:lnTo>
                  <a:lnTo>
                    <a:pt x="110617" y="6350"/>
                  </a:lnTo>
                  <a:lnTo>
                    <a:pt x="110617" y="12700"/>
                  </a:lnTo>
                  <a:cubicBezTo>
                    <a:pt x="56515" y="12700"/>
                    <a:pt x="12700" y="56515"/>
                    <a:pt x="12700" y="110617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5080398" y="4704755"/>
            <a:ext cx="279052" cy="301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7"/>
              </a:lnSpc>
            </a:pPr>
            <a:r>
              <a:rPr lang="en-US" sz="2187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4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150322" y="4676626"/>
            <a:ext cx="2579637" cy="300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812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Multi-City Deployment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150322" y="5096172"/>
            <a:ext cx="3638550" cy="661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43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Expand system architecture for large-scale metropolitan implementations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0252322" y="1581447"/>
            <a:ext cx="7393781" cy="7393781"/>
            <a:chOff x="0" y="0"/>
            <a:chExt cx="9858375" cy="9858375"/>
          </a:xfrm>
        </p:grpSpPr>
        <p:sp>
          <p:nvSpPr>
            <p:cNvPr name="Freeform 42" id="42" descr="preencoded.png"/>
            <p:cNvSpPr/>
            <p:nvPr/>
          </p:nvSpPr>
          <p:spPr>
            <a:xfrm flipH="false" flipV="false" rot="0">
              <a:off x="0" y="0"/>
              <a:ext cx="9858375" cy="9858375"/>
            </a:xfrm>
            <a:custGeom>
              <a:avLst/>
              <a:gdLst/>
              <a:ahLst/>
              <a:cxnLst/>
              <a:rect r="r" b="b" t="t" l="l"/>
              <a:pathLst>
                <a:path h="9858375" w="9858375">
                  <a:moveTo>
                    <a:pt x="0" y="0"/>
                  </a:moveTo>
                  <a:lnTo>
                    <a:pt x="9858375" y="0"/>
                  </a:lnTo>
                  <a:lnTo>
                    <a:pt x="9858375" y="9858375"/>
                  </a:lnTo>
                  <a:lnTo>
                    <a:pt x="0" y="98583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0252322" y="9184481"/>
            <a:ext cx="7393781" cy="1385887"/>
            <a:chOff x="0" y="0"/>
            <a:chExt cx="9858375" cy="184785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858375" cy="1847850"/>
            </a:xfrm>
            <a:custGeom>
              <a:avLst/>
              <a:gdLst/>
              <a:ahLst/>
              <a:cxnLst/>
              <a:rect r="r" b="b" t="t" l="l"/>
              <a:pathLst>
                <a:path h="1847850" w="9858375">
                  <a:moveTo>
                    <a:pt x="0" y="104140"/>
                  </a:moveTo>
                  <a:cubicBezTo>
                    <a:pt x="0" y="46609"/>
                    <a:pt x="46609" y="0"/>
                    <a:pt x="104140" y="0"/>
                  </a:cubicBezTo>
                  <a:lnTo>
                    <a:pt x="9754235" y="0"/>
                  </a:lnTo>
                  <a:cubicBezTo>
                    <a:pt x="9811766" y="0"/>
                    <a:pt x="9858375" y="46609"/>
                    <a:pt x="9858375" y="104140"/>
                  </a:cubicBezTo>
                  <a:lnTo>
                    <a:pt x="9858375" y="1743710"/>
                  </a:lnTo>
                  <a:cubicBezTo>
                    <a:pt x="9858375" y="1801241"/>
                    <a:pt x="9811766" y="1847850"/>
                    <a:pt x="9754235" y="1847850"/>
                  </a:cubicBezTo>
                  <a:lnTo>
                    <a:pt x="104140" y="1847850"/>
                  </a:lnTo>
                  <a:cubicBezTo>
                    <a:pt x="46609" y="1847850"/>
                    <a:pt x="0" y="1801241"/>
                    <a:pt x="0" y="1743710"/>
                  </a:cubicBezTo>
                  <a:close/>
                </a:path>
              </a:pathLst>
            </a:custGeom>
            <a:solidFill>
              <a:srgbClr val="C7C9EA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0438359" y="9463682"/>
            <a:ext cx="232470" cy="186035"/>
            <a:chOff x="0" y="0"/>
            <a:chExt cx="309960" cy="248047"/>
          </a:xfrm>
        </p:grpSpPr>
        <p:sp>
          <p:nvSpPr>
            <p:cNvPr name="Freeform 46" id="46" descr="preencoded.png"/>
            <p:cNvSpPr/>
            <p:nvPr/>
          </p:nvSpPr>
          <p:spPr>
            <a:xfrm flipH="false" flipV="false" rot="0">
              <a:off x="0" y="0"/>
              <a:ext cx="310007" cy="248031"/>
            </a:xfrm>
            <a:custGeom>
              <a:avLst/>
              <a:gdLst/>
              <a:ahLst/>
              <a:cxnLst/>
              <a:rect r="r" b="b" t="t" l="l"/>
              <a:pathLst>
                <a:path h="248031" w="310007">
                  <a:moveTo>
                    <a:pt x="0" y="0"/>
                  </a:moveTo>
                  <a:lnTo>
                    <a:pt x="310007" y="0"/>
                  </a:lnTo>
                  <a:lnTo>
                    <a:pt x="310007" y="248031"/>
                  </a:lnTo>
                  <a:lnTo>
                    <a:pt x="0" y="2480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066" r="15" b="-2073"/>
              </a:stretch>
            </a:blipFill>
          </p:spPr>
        </p:sp>
      </p:grpSp>
      <p:sp>
        <p:nvSpPr>
          <p:cNvPr name="TextBox 47" id="47"/>
          <p:cNvSpPr txBox="true"/>
          <p:nvPr/>
        </p:nvSpPr>
        <p:spPr>
          <a:xfrm rot="0">
            <a:off x="10856862" y="9350276"/>
            <a:ext cx="6603206" cy="959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437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Vision for Tomorrow:</a:t>
            </a:r>
            <a:r>
              <a:rPr lang="en-US" sz="143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Our adaptive traffic system represents just the beginning of intelligent urban infrastructure. With continued development, it can transform how cities manage transportation at every level.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DAG311RCESQ</dc:identifier>
  <dcterms:modified xsi:type="dcterms:W3CDTF">2011-08-01T06:04:30Z</dcterms:modified>
  <cp:revision>1</cp:revision>
</cp:coreProperties>
</file>